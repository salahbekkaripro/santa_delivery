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409c996f1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409c996f1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409c996f1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409c996f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409c996f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409c996f1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zD8DxNhBFbI9uKvT4yDI4qeypPTYWiu4/view" TargetMode="External"/><Relationship Id="rId4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UGizJhMKqUqp252ZlxJNzRZ1V4aOfqGh/view" TargetMode="External"/><Relationship Id="rId4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28600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851392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828032"/>
            <a:ext cx="9144000" cy="5029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82880" y="2743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9536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1440" y="43891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686800" y="4114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38912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Graphes et Open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Optimisation des tournées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du Père Noël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14400" y="299923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Organiser des tournées de livraison réalistes dans une ville réelle.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37160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128016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1752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292608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6344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316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457200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Traîneaux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30936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08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21792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Cadeaux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745250" y="434872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Contraintes de livraison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74320" y="914400"/>
            <a:ext cx="393192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Contraintes opérationnelles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11480" y="1389888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Dépôt unique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Plusieurs traîneaux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Capacité limitée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Fenêtres horaires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434840" y="914400"/>
            <a:ext cx="438912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53712" y="96012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8B1A1A"/>
                </a:solidFill>
                <a:latin typeface="Georgia"/>
                <a:ea typeface="Georgia"/>
                <a:cs typeface="Georgia"/>
                <a:sym typeface="Georgia"/>
              </a:rPr>
              <a:t>Attention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0" y="1371600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Clients non livrés possibles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onsolas"/>
              <a:buNone/>
            </a:pPr>
            <a:r>
              <a:t/>
            </a:r>
            <a:endParaRPr sz="1200">
              <a:solidFill>
                <a:srgbClr val="0F1F1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434840" y="2359152"/>
            <a:ext cx="4389120" cy="138988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553712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Contrainte temporelle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0" y="283464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durée_tournée ≤ 28 800 s (8h)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74320" y="397764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4048" y="39776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Ce n'est pas un simple plus court chemin : c'est un VRP contraint.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737750" y="45436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Problématique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F1F14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75495" y="1033277"/>
            <a:ext cx="81381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Comment organiser efficacement les tournées de livraison du Père Noël</a:t>
            </a:r>
            <a:r>
              <a:rPr i="1" lang="en-US" sz="1350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en arbitrant entre rapidité, couverture des colis, capacité des traîneaux, budget et impact CO₂ 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6576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45720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Livrer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548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Optimiser les temps de parcours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33172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33172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242316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Max de colis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44144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Couvrir un maximum de livraisons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29768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29768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377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38912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8h – Capacité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40740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Respecter les contraintes opérationnelles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26364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26364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973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635508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CO₂ &amp;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37336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Limiter distance, coût et empreinte carbone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8138150" y="46634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Open Data utilisées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graphe n'est pas fictif : il vient de données ouvertes.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 b="21489" l="0" r="0" t="0"/>
          <a:stretch/>
        </p:blipFill>
        <p:spPr>
          <a:xfrm>
            <a:off x="245075" y="1147300"/>
            <a:ext cx="8503901" cy="26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 txBox="1"/>
          <p:nvPr/>
        </p:nvSpPr>
        <p:spPr>
          <a:xfrm>
            <a:off x="7763450" y="451250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Pipeline global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632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30632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Adresse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utilisateur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29387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46761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56819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537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156819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555748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729484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830068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2830068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routier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817620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991356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091940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0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4091940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Matrices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 coût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079492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253228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353812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50992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5353812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Solveur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OR-Tools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341364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515100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61568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286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661568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Debriefing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60323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77697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87755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7473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787755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Visuali-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922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4922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91109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91109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172968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172968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34840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34840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696712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696712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95858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95858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22045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22045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Une adresse devient une mission optimisée.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7737750" y="45436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8" title="Capture vidéo du 22-05-2026 15:14:51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4450"/>
            <a:ext cx="8839200" cy="433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Score final et benchmark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74320" y="914400"/>
            <a:ext cx="42062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11480" y="960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Score final (pondération)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47472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47472" y="1664208"/>
            <a:ext cx="1399032" cy="237744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520440" y="166420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47472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Couverture colis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47472" y="2231136"/>
            <a:ext cx="777240" cy="237744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520440" y="2231136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47472" y="252374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47472" y="2798064"/>
            <a:ext cx="621792" cy="23774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520440" y="279806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47472" y="3090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47472" y="3364992"/>
            <a:ext cx="310896" cy="237744"/>
          </a:xfrm>
          <a:prstGeom prst="rect">
            <a:avLst/>
          </a:prstGeom>
          <a:solidFill>
            <a:srgbClr val="718096"/>
          </a:solidFill>
          <a:ln cap="flat" cmpd="sng" w="12700">
            <a:solidFill>
              <a:srgbClr val="7180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520440" y="336499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82803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828032" y="1371600"/>
            <a:ext cx="384048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Tournée naïve vs optimisée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gagné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 réduite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 économisé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résultat n'est pas seulement une route : c'est une solution évaluée avec plusieurs critères.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7758325" y="4494213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Temps, vitesse, météo et relief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74320" y="914400"/>
            <a:ext cx="28346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Vitesses par type de voie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84048" y="1353312"/>
            <a:ext cx="2633472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residential → 30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tertiary → 50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secondary → 60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bike → 18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walk → 5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246120" y="914400"/>
            <a:ext cx="292608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337560" y="9601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Formules de temps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337560" y="137160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= distance / vitesse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final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× facteur météo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 / speed_multiplier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273552" y="2606040"/>
            <a:ext cx="2852928" cy="384048"/>
          </a:xfrm>
          <a:prstGeom prst="rect">
            <a:avLst/>
          </a:prstGeom>
          <a:solidFill>
            <a:srgbClr val="1A3A22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337560" y="26060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☀  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846320" y="26060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×1.0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273552" y="3044952"/>
            <a:ext cx="2852928" cy="384048"/>
          </a:xfrm>
          <a:prstGeom prst="rect">
            <a:avLst/>
          </a:prstGeom>
          <a:solidFill>
            <a:srgbClr val="3A3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3337560" y="30449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🌧  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846320" y="304495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×1.3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273552" y="3483864"/>
            <a:ext cx="2852928" cy="384048"/>
          </a:xfrm>
          <a:prstGeom prst="rect">
            <a:avLst/>
          </a:prstGeom>
          <a:solidFill>
            <a:srgbClr val="3A1010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3337560" y="34838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❄  Snow / Mist / Storm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846320" y="348386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×2.0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309360" y="914400"/>
            <a:ext cx="254203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400800" y="960120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Relief SRTM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400800" y="1371600"/>
            <a:ext cx="2331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latitude / longitude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altitude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pente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ajustement du temps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74320" y="4069080"/>
            <a:ext cx="8577072" cy="384048"/>
          </a:xfrm>
          <a:prstGeom prst="rect">
            <a:avLst/>
          </a:prstGeom>
          <a:solidFill>
            <a:srgbClr val="1A2E1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⚙  Options : La météo réelle et le relief SRTM sont optionnels.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84048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temps de parcours intègrent météo réelle et relief du terrain.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737750" y="45436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Des plus courts chemins aux tournées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2004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2004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/>
          <p:nvPr/>
        </p:nvSpPr>
        <p:spPr>
          <a:xfrm>
            <a:off x="85039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1. Graphe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5720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œuds = intersections / points routiers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rêtes = routes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oids = temps, distance, CO₂, risque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008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320040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200400" y="987552"/>
            <a:ext cx="2651760" cy="47548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184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373075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2. Plus courts chemins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33756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Dijkstra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alcul entre dépôt et clients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onstruction des matrices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44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608076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08076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661111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3. Problème de tournées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21792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es matrices → entrée du VRP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choisit l'ordre &amp;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ontraintes : capacité, 8h, fenêtres, pénalités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20040" y="3822192"/>
            <a:ext cx="850392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29768" y="382219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On ne résout pas seulement un plus court chemin : on utilise les plus courts chemins pour construire un VRP.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7818300" y="384960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Matrices de coût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274320" y="914400"/>
            <a:ext cx="3749040" cy="26060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41148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Fichiers matrices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47472" y="1371600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41148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live_time_matrix.npy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2834640" y="138988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47472" y="1773936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11480" y="17922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matrix_5eme.npy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2834640" y="179222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47472" y="2176272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11480" y="219456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co2_matrix.npy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834640" y="219456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47472" y="2578608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411480" y="259689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risk_matrix.npy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2834640" y="259689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47472" y="2980944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11480" y="29992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composite_cost_matrix.npy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2834640" y="299923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Coût multicritère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47472" y="3401568"/>
            <a:ext cx="3657600" cy="475488"/>
          </a:xfrm>
          <a:prstGeom prst="rect">
            <a:avLst/>
          </a:prstGeom>
          <a:solidFill>
            <a:srgbClr val="0F2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20624" y="3401568"/>
            <a:ext cx="3547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case [i, j] = coût du plus court chemin entre i et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matrices encodent tous les coûts entre chaque paire de points.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4849" y="868275"/>
            <a:ext cx="3375340" cy="3484687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40"/>
              </a:srgbClr>
            </a:outerShdw>
          </a:effectLst>
        </p:spPr>
      </p:pic>
      <p:sp>
        <p:nvSpPr>
          <p:cNvPr id="289" name="Google Shape;289;p12"/>
          <p:cNvSpPr txBox="1"/>
          <p:nvPr/>
        </p:nvSpPr>
        <p:spPr>
          <a:xfrm>
            <a:off x="7600875" y="4494213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9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Paramètres OR-Tools et profils 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74320" y="914400"/>
            <a:ext cx="3200400" cy="3154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384048" y="96012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Paramètres OR-Tools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384048" y="1353312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first_solution_strategy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local_search_metaheuristic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solver_time_limit_s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drop_penalty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global_span_cost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vehicle_fixed_cost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time_slack_s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max_route_time_s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703320" y="914400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166360" y="1005840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temps, vitesse agressive, recherche courte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703320" y="1984248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Écolo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166360" y="2075688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distance / CO₂, recherche conservatrice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703320" y="3054096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166360" y="3145536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 de marge temporelle, meilleure tolérance aux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74320" y="4224528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384048" y="42245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profils IA sont des politiques de paramétrage du solveur.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7555875" y="425647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Résolution et amélioration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274320" y="914400"/>
            <a:ext cx="397764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274320" y="914400"/>
            <a:ext cx="3977640" cy="4114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384048" y="914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classique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84048" y="1389888"/>
            <a:ext cx="3749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Petites et moyennes 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: solution initiale + métaheuristique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Post-traitement local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○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ALNS · ILS · 3-opt · or-opt · 2-opt* · double-bridge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274331" y="3822200"/>
            <a:ext cx="8503800" cy="530400"/>
          </a:xfrm>
          <a:prstGeom prst="rect">
            <a:avLst/>
          </a:prstGeom>
          <a:solidFill>
            <a:srgbClr val="EAF3EC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508921" y="3822200"/>
            <a:ext cx="8015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OR-Tools trouve une bonne solution → post-traitement l'améliore localement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480560" y="914400"/>
            <a:ext cx="434340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480560" y="914400"/>
            <a:ext cx="4343400" cy="41148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590288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large scale (≥ 150 colis)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590288" y="1389888"/>
            <a:ext cx="41148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Génération de tournées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Chaque tournée respecte dépôt, capacité, 8h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Sélection avec CP-SAT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Pénalités pour colis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8042325" y="454462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5" title="Capture vidéo du 22-05-2026 02:21:01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199" cy="45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Sélection automatique des traîneaux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274320" y="914400"/>
            <a:ext cx="4114800" cy="150876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Heuristique de départ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438912" y="135331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k_min = ceil(poids_total / capacité)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k_base = ceil(nombre_clients / 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617720" y="914400"/>
            <a:ext cx="4114800" cy="150876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73659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Optimisation du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4736592" y="13533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score = coût opérationnel + coût non-livrés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274320" y="2578608"/>
            <a:ext cx="8458200" cy="1481328"/>
          </a:xfrm>
          <a:prstGeom prst="rect">
            <a:avLst/>
          </a:prstGeom>
          <a:solidFill>
            <a:srgbClr val="121F14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411480" y="262432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Détails du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38912" y="3017520"/>
            <a:ext cx="8275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opérationnel = temps + distance + coût flotte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non-livrés = drop_penalty × nombre de clients non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bon nombre de traîneaux combine couverture et rentabilité.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8170700" y="4494213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IA apprenante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411480" y="91440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🎯  Objectif : apprendre quels profils et paramètres fonctionnent le mieux selon le contexte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274320" y="1719072"/>
            <a:ext cx="4114800" cy="21488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411480" y="1764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Entrées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438912" y="2148840"/>
            <a:ext cx="374904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Nombre de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Densité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Météo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obtenu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4572000" y="1719072"/>
            <a:ext cx="4297680" cy="21488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4709160" y="17647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Sorties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4709160" y="2148840"/>
            <a:ext cx="402336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Profil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Paramétrage OR-Tools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528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/>
          <p:nvPr/>
        </p:nvSpPr>
        <p:spPr>
          <a:xfrm>
            <a:off x="274320" y="4005072"/>
            <a:ext cx="8595360" cy="530352"/>
          </a:xfrm>
          <a:prstGeom prst="rect">
            <a:avLst/>
          </a:prstGeom>
          <a:solidFill>
            <a:srgbClr val="2A1A0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411480" y="400507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⚠  Limite : module présent mais pas encore assez entraîné pour remplacer les profils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 txBox="1"/>
          <p:nvPr/>
        </p:nvSpPr>
        <p:spPr>
          <a:xfrm>
            <a:off x="8088225" y="453542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8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Difficultés, limites et 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274320" y="914400"/>
            <a:ext cx="4114800" cy="2176272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9509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8"/>
          <p:cNvSpPr/>
          <p:nvPr/>
        </p:nvSpPr>
        <p:spPr>
          <a:xfrm>
            <a:off x="713232" y="914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384048" y="1353312"/>
            <a:ext cx="3840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Graphes lourds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APIs externes instables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Passage à 1000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Choix du nombre de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Affichage frontend lourd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4572000" y="914400"/>
            <a:ext cx="4251960" cy="2176272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4572000" y="914400"/>
            <a:ext cx="4251960" cy="38404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4681728" y="9144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Limites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681728" y="1353312"/>
            <a:ext cx="40050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imul</a:t>
            </a:r>
            <a:r>
              <a:rPr lang="en-US" sz="1100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Optimalité globale non garantie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OSM lent sur grands rayons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IA apprenante pas encore assez entraînée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274320" y="3218688"/>
            <a:ext cx="8595360" cy="1444752"/>
          </a:xfrm>
          <a:prstGeom prst="rect">
            <a:avLst/>
          </a:prstGeom>
          <a:solidFill>
            <a:srgbClr val="1C4A2A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364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8"/>
          <p:cNvSpPr/>
          <p:nvPr/>
        </p:nvSpPr>
        <p:spPr>
          <a:xfrm>
            <a:off x="868680" y="321868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384048" y="3712464"/>
            <a:ext cx="827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i="1" lang="en-US" sz="1350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On peut construire</a:t>
            </a: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 une aide à la décision réaliste pour organiser les tournées de livraison du Père Noël, mais qui a des limitations.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8168725" y="473190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