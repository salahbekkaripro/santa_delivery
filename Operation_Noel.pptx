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5.png"/><Relationship Id="rId4" Type="http://schemas.openxmlformats.org/officeDocument/2006/relationships/image" Target="../media/image16.png"/><Relationship Id="rId5" Type="http://schemas.openxmlformats.org/officeDocument/2006/relationships/image" Target="../media/image5.png"/><Relationship Id="rId6" Type="http://schemas.openxmlformats.org/officeDocument/2006/relationships/image" Target="../media/image28.png"/><Relationship Id="rId7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png"/><Relationship Id="rId4" Type="http://schemas.openxmlformats.org/officeDocument/2006/relationships/image" Target="../media/image2.png"/><Relationship Id="rId5" Type="http://schemas.openxmlformats.org/officeDocument/2006/relationships/image" Target="../media/image28.png"/><Relationship Id="rId6" Type="http://schemas.openxmlformats.org/officeDocument/2006/relationships/image" Target="../media/image3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30.png"/><Relationship Id="rId6" Type="http://schemas.openxmlformats.org/officeDocument/2006/relationships/image" Target="../media/image2.png"/><Relationship Id="rId7" Type="http://schemas.openxmlformats.org/officeDocument/2006/relationships/image" Target="../media/image6.png"/><Relationship Id="rId8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6.png"/><Relationship Id="rId9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21.png"/><Relationship Id="rId7" Type="http://schemas.openxmlformats.org/officeDocument/2006/relationships/image" Target="../media/image3.png"/><Relationship Id="rId8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5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38.png"/><Relationship Id="rId5" Type="http://schemas.openxmlformats.org/officeDocument/2006/relationships/image" Target="../media/image3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2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F1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228600" y="0"/>
            <a:ext cx="64008" cy="51435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8851392" y="0"/>
            <a:ext cx="64008" cy="51435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0" y="4828032"/>
            <a:ext cx="9144000" cy="50292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" name="Google Shape;22;p3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182880" y="274320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" name="Google Shape;23;p3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8595360" y="182880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" name="Google Shape;24;p3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91440" y="4389120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" name="Google Shape;25;p3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8686800" y="4114800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" name="Google Shape;26;p3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4389120" y="1828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"/>
          <p:cNvSpPr/>
          <p:nvPr/>
        </p:nvSpPr>
        <p:spPr>
          <a:xfrm>
            <a:off x="457200" y="411480"/>
            <a:ext cx="3200400" cy="347472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457200" y="41148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Graphes et Open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457200" y="868680"/>
            <a:ext cx="82296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Optimisation des tournées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du Père Noël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3200400" y="2377440"/>
            <a:ext cx="2743200" cy="4572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914400" y="2999232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400"/>
              <a:buFont typeface="Georgia"/>
              <a:buNone/>
            </a:pPr>
            <a:r>
              <a:rPr b="0" i="1" lang="en-US" sz="14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Organiser des tournées de livraison réalistes dans une ville réelle.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1371600" y="3611880"/>
            <a:ext cx="640080" cy="640080"/>
          </a:xfrm>
          <a:prstGeom prst="ellipse">
            <a:avLst/>
          </a:prstGeom>
          <a:solidFill>
            <a:srgbClr val="1C4A2A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1328" y="37033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3"/>
          <p:cNvSpPr/>
          <p:nvPr/>
        </p:nvSpPr>
        <p:spPr>
          <a:xfrm>
            <a:off x="1280160" y="43159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Carte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3017520" y="3611880"/>
            <a:ext cx="640080" cy="640080"/>
          </a:xfrm>
          <a:prstGeom prst="ellipse">
            <a:avLst/>
          </a:prstGeom>
          <a:solidFill>
            <a:srgbClr val="1C4A2A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" name="Google Shape;3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27248" y="37033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3"/>
          <p:cNvSpPr/>
          <p:nvPr/>
        </p:nvSpPr>
        <p:spPr>
          <a:xfrm>
            <a:off x="2926080" y="43159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Graphe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4663440" y="3611880"/>
            <a:ext cx="640080" cy="640080"/>
          </a:xfrm>
          <a:prstGeom prst="ellipse">
            <a:avLst/>
          </a:prstGeom>
          <a:solidFill>
            <a:srgbClr val="1C4A2A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" name="Google Shape;39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73168" y="37033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3"/>
          <p:cNvSpPr/>
          <p:nvPr/>
        </p:nvSpPr>
        <p:spPr>
          <a:xfrm>
            <a:off x="4572000" y="43159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Traîneaux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6309360" y="3611880"/>
            <a:ext cx="640080" cy="640080"/>
          </a:xfrm>
          <a:prstGeom prst="ellipse">
            <a:avLst/>
          </a:prstGeom>
          <a:solidFill>
            <a:srgbClr val="1C4A2A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" name="Google Shape;42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19088" y="37033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"/>
          <p:cNvSpPr/>
          <p:nvPr/>
        </p:nvSpPr>
        <p:spPr>
          <a:xfrm>
            <a:off x="6217920" y="43159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Cadeaux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7745250" y="4348725"/>
            <a:ext cx="85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1/16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4E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Contraintes de livraison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274320" y="914400"/>
            <a:ext cx="3931920" cy="283464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365760" y="9601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1C4A2A"/>
                </a:solidFill>
                <a:latin typeface="Georgia"/>
                <a:ea typeface="Georgia"/>
                <a:cs typeface="Georgia"/>
                <a:sym typeface="Georgia"/>
              </a:rPr>
              <a:t>Contraintes opérationnelles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411480" y="1389888"/>
            <a:ext cx="36576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Dépôt unique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Plusieurs traîneaux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Capacité limitée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Fenêtres horaires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Budget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4434840" y="914400"/>
            <a:ext cx="4389120" cy="132588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4553712" y="960120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250"/>
              <a:buFont typeface="Georgia"/>
              <a:buNone/>
            </a:pPr>
            <a:r>
              <a:rPr b="1" lang="en-US" sz="1250">
                <a:solidFill>
                  <a:srgbClr val="8B1A1A"/>
                </a:solidFill>
                <a:latin typeface="Georgia"/>
                <a:ea typeface="Georgia"/>
                <a:cs typeface="Georgia"/>
                <a:sym typeface="Georgia"/>
              </a:rPr>
              <a:t>Attention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4572000" y="1371600"/>
            <a:ext cx="4160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Clients non livrés possibles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200"/>
              <a:buFont typeface="Consolas"/>
              <a:buNone/>
            </a:pPr>
            <a:r>
              <a:t/>
            </a:r>
            <a:endParaRPr sz="1200">
              <a:solidFill>
                <a:srgbClr val="0F1F1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4434840" y="2359152"/>
            <a:ext cx="4389120" cy="1389888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4553712" y="2404872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C8A84B"/>
                </a:solidFill>
                <a:latin typeface="Georgia"/>
                <a:ea typeface="Georgia"/>
                <a:cs typeface="Georgia"/>
                <a:sym typeface="Georgia"/>
              </a:rPr>
              <a:t>Contrainte temporelle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4572000" y="2834640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250"/>
              <a:buFont typeface="Consolas"/>
              <a:buNone/>
            </a:pPr>
            <a:r>
              <a:rPr b="1" i="0" lang="en-US" sz="1250" u="none" cap="none" strike="noStrike">
                <a:solidFill>
                  <a:srgbClr val="0F1F14"/>
                </a:solidFill>
                <a:latin typeface="Consolas"/>
                <a:ea typeface="Consolas"/>
                <a:cs typeface="Consolas"/>
                <a:sym typeface="Consolas"/>
              </a:rPr>
              <a:t>durée_tournée ≤ 28 800 s (8h)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274320" y="3977640"/>
            <a:ext cx="8595360" cy="475488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384048" y="397764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💡 Ce n'est pas un simple plus court chemin : c'est un VRP contraint.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4E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Problématique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365760" y="960120"/>
            <a:ext cx="8412480" cy="1188720"/>
          </a:xfrm>
          <a:prstGeom prst="rect">
            <a:avLst/>
          </a:prstGeom>
          <a:solidFill>
            <a:srgbClr val="0F1F14"/>
          </a:solidFill>
          <a:ln cap="flat" cmpd="sng" w="254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02920" y="987552"/>
            <a:ext cx="8138160" cy="1133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350"/>
              <a:buFont typeface="Georgia"/>
              <a:buNone/>
            </a:pPr>
            <a:r>
              <a:rPr b="0" i="1" lang="en-US" sz="135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Comment organiser efficacement les tournées de livraison du Père Noël à partir de graphes et de données ouvertes, en arbitrant entre rapidité, couverture des colis, capacité des traîneaux, budget et impact CO₂ 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365760" y="2331720"/>
            <a:ext cx="1874520" cy="23317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365760" y="2331720"/>
            <a:ext cx="1874520" cy="384048"/>
          </a:xfrm>
          <a:prstGeom prst="rect">
            <a:avLst/>
          </a:prstGeom>
          <a:solidFill>
            <a:srgbClr val="8B1A1A"/>
          </a:solidFill>
          <a:ln cap="flat" cmpd="sng" w="127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" name="Google Shape;7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1852" y="2395728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5"/>
          <p:cNvSpPr/>
          <p:nvPr/>
        </p:nvSpPr>
        <p:spPr>
          <a:xfrm>
            <a:off x="457200" y="2807208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F1F14"/>
                </a:solidFill>
                <a:latin typeface="Georgia"/>
                <a:ea typeface="Georgia"/>
                <a:cs typeface="Georgia"/>
                <a:sym typeface="Georgia"/>
              </a:rPr>
              <a:t>Livrer vite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75488" y="3246120"/>
            <a:ext cx="1655064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Optimiser les temps de parcours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2331720" y="2331720"/>
            <a:ext cx="1874520" cy="23317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2331720" y="2331720"/>
            <a:ext cx="1874520" cy="384048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" name="Google Shape;8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67812" y="2395728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5"/>
          <p:cNvSpPr/>
          <p:nvPr/>
        </p:nvSpPr>
        <p:spPr>
          <a:xfrm>
            <a:off x="2423160" y="2807208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F1F14"/>
                </a:solidFill>
                <a:latin typeface="Georgia"/>
                <a:ea typeface="Georgia"/>
                <a:cs typeface="Georgia"/>
                <a:sym typeface="Georgia"/>
              </a:rPr>
              <a:t>Max de colis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2441448" y="3246120"/>
            <a:ext cx="1655064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Couvrir un maximum de livraisons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4297680" y="2331720"/>
            <a:ext cx="1874520" cy="23317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4297680" y="2331720"/>
            <a:ext cx="1874520" cy="384048"/>
          </a:xfrm>
          <a:prstGeom prst="rect">
            <a:avLst/>
          </a:prstGeom>
          <a:solidFill>
            <a:srgbClr val="8B1A1A"/>
          </a:solidFill>
          <a:ln cap="flat" cmpd="sng" w="127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33772" y="2395728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5"/>
          <p:cNvSpPr/>
          <p:nvPr/>
        </p:nvSpPr>
        <p:spPr>
          <a:xfrm>
            <a:off x="4389120" y="2807208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F1F14"/>
                </a:solidFill>
                <a:latin typeface="Georgia"/>
                <a:ea typeface="Georgia"/>
                <a:cs typeface="Georgia"/>
                <a:sym typeface="Georgia"/>
              </a:rPr>
              <a:t>8h – Capacité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4407408" y="3246120"/>
            <a:ext cx="1655064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Respecter les contraintes opérationnelles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6263640" y="2331720"/>
            <a:ext cx="1874520" cy="23317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6263640" y="2331720"/>
            <a:ext cx="1874520" cy="384048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99732" y="2395728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/>
          <p:nvPr/>
        </p:nvSpPr>
        <p:spPr>
          <a:xfrm>
            <a:off x="6355080" y="2807208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F1F14"/>
                </a:solidFill>
                <a:latin typeface="Georgia"/>
                <a:ea typeface="Georgia"/>
                <a:cs typeface="Georgia"/>
                <a:sym typeface="Georgia"/>
              </a:rPr>
              <a:t>CO₂ &amp; Budget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6373368" y="3246120"/>
            <a:ext cx="1655064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Limiter distance, coût et empreinte carbone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 txBox="1"/>
          <p:nvPr/>
        </p:nvSpPr>
        <p:spPr>
          <a:xfrm>
            <a:off x="8028425" y="4663450"/>
            <a:ext cx="85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2</a:t>
            </a:r>
            <a:r>
              <a:rPr lang="en-US">
                <a:solidFill>
                  <a:schemeClr val="dk1"/>
                </a:solidFill>
              </a:rPr>
              <a:t>/16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4E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Modules de l'application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274320" y="960120"/>
            <a:ext cx="2542032" cy="77724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274320" y="960120"/>
            <a:ext cx="777240" cy="77724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5" name="Google Shape;10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14757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6"/>
          <p:cNvSpPr/>
          <p:nvPr/>
        </p:nvSpPr>
        <p:spPr>
          <a:xfrm>
            <a:off x="1143000" y="960120"/>
            <a:ext cx="162763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0F1F14"/>
                </a:solidFill>
                <a:latin typeface="Georgia"/>
                <a:ea typeface="Georgia"/>
                <a:cs typeface="Georgia"/>
                <a:sym typeface="Georgia"/>
              </a:rPr>
              <a:t>Mission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2953512" y="960120"/>
            <a:ext cx="2542032" cy="77724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2953512" y="960120"/>
            <a:ext cx="777240" cy="777240"/>
          </a:xfrm>
          <a:prstGeom prst="rect">
            <a:avLst/>
          </a:prstGeom>
          <a:solidFill>
            <a:srgbClr val="8B1A1A"/>
          </a:solidFill>
          <a:ln cap="flat" cmpd="sng" w="127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" name="Google Shape;10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36392" y="114757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6"/>
          <p:cNvSpPr/>
          <p:nvPr/>
        </p:nvSpPr>
        <p:spPr>
          <a:xfrm>
            <a:off x="3822192" y="960120"/>
            <a:ext cx="162763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0F1F14"/>
                </a:solidFill>
                <a:latin typeface="Georgia"/>
                <a:ea typeface="Georgia"/>
                <a:cs typeface="Georgia"/>
                <a:sym typeface="Georgia"/>
              </a:rPr>
              <a:t>Solveur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5632704" y="960120"/>
            <a:ext cx="2542032" cy="77724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5632704" y="960120"/>
            <a:ext cx="777240" cy="77724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3" name="Google Shape;11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5584" y="114757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6"/>
          <p:cNvSpPr/>
          <p:nvPr/>
        </p:nvSpPr>
        <p:spPr>
          <a:xfrm>
            <a:off x="6501384" y="960120"/>
            <a:ext cx="162763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0F1F14"/>
                </a:solidFill>
                <a:latin typeface="Georgia"/>
                <a:ea typeface="Georgia"/>
                <a:cs typeface="Georgia"/>
                <a:sym typeface="Georgia"/>
              </a:rPr>
              <a:t>Debriefing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274320" y="1847088"/>
            <a:ext cx="2542032" cy="77724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274320" y="1847088"/>
            <a:ext cx="777240" cy="777240"/>
          </a:xfrm>
          <a:prstGeom prst="rect">
            <a:avLst/>
          </a:prstGeom>
          <a:solidFill>
            <a:srgbClr val="8B1A1A"/>
          </a:solidFill>
          <a:ln cap="flat" cmpd="sng" w="127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7" name="Google Shape;117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" y="2034540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6"/>
          <p:cNvSpPr/>
          <p:nvPr/>
        </p:nvSpPr>
        <p:spPr>
          <a:xfrm>
            <a:off x="1143000" y="1847088"/>
            <a:ext cx="162763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0F1F14"/>
                </a:solidFill>
                <a:latin typeface="Georgia"/>
                <a:ea typeface="Georgia"/>
                <a:cs typeface="Georgia"/>
                <a:sym typeface="Georgia"/>
              </a:rPr>
              <a:t>Versus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2953512" y="1847088"/>
            <a:ext cx="2542032" cy="77724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2953512" y="1847088"/>
            <a:ext cx="777240" cy="77724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1" name="Google Shape;121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36392" y="2034540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6"/>
          <p:cNvSpPr/>
          <p:nvPr/>
        </p:nvSpPr>
        <p:spPr>
          <a:xfrm>
            <a:off x="3822192" y="1847088"/>
            <a:ext cx="162763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0F1F14"/>
                </a:solidFill>
                <a:latin typeface="Georgia"/>
                <a:ea typeface="Georgia"/>
                <a:cs typeface="Georgia"/>
                <a:sym typeface="Georgia"/>
              </a:rPr>
              <a:t>Social / Messages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5632704" y="1847088"/>
            <a:ext cx="2542032" cy="77724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5632704" y="1847088"/>
            <a:ext cx="777240" cy="777240"/>
          </a:xfrm>
          <a:prstGeom prst="rect">
            <a:avLst/>
          </a:prstGeom>
          <a:solidFill>
            <a:srgbClr val="8B1A1A"/>
          </a:solidFill>
          <a:ln cap="flat" cmpd="sng" w="127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5" name="Google Shape;125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5584" y="2034540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6"/>
          <p:cNvSpPr/>
          <p:nvPr/>
        </p:nvSpPr>
        <p:spPr>
          <a:xfrm>
            <a:off x="6501384" y="1847088"/>
            <a:ext cx="162763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0F1F14"/>
                </a:solidFill>
                <a:latin typeface="Georgia"/>
                <a:ea typeface="Georgia"/>
                <a:cs typeface="Georgia"/>
                <a:sym typeface="Georgia"/>
              </a:rPr>
              <a:t>Données / Coulisses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274320" y="2697480"/>
            <a:ext cx="8595360" cy="150876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411480" y="274320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C8A84B"/>
                </a:solidFill>
                <a:latin typeface="Georgia"/>
                <a:ea typeface="Georgia"/>
                <a:cs typeface="Georgia"/>
                <a:sym typeface="Georgia"/>
              </a:rPr>
              <a:t>Mode Versus : Comparer deux joueurs ou deux stratégies sur une même mission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411480" y="3218688"/>
            <a:ext cx="832104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Critères comparés : </a:t>
            </a:r>
            <a:r>
              <a:rPr b="1" i="0" lang="en-US" sz="1200" u="none" cap="none" strike="noStrike">
                <a:solidFill>
                  <a:srgbClr val="1C4A2A"/>
                </a:solidFill>
                <a:latin typeface="Calibri"/>
                <a:ea typeface="Calibri"/>
                <a:cs typeface="Calibri"/>
                <a:sym typeface="Calibri"/>
              </a:rPr>
              <a:t>Temps  ·  Clients livrés  ·  CO₂  ·  Budget  ·  Score final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411480" y="4315968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Pipeline : Création mission → Résolution → Résultats → Comparaison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4E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Open Data utilisées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57200" y="4480560"/>
            <a:ext cx="8229600" cy="475488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566928" y="4480560"/>
            <a:ext cx="8046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💡 Le graphe n'est pas fictif : il vient de données ouvertes.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050" y="952350"/>
            <a:ext cx="8503901" cy="3380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F14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Pipeline global du projet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306324" y="2063567"/>
            <a:ext cx="960000" cy="123450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2" name="Google Shape;15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504" y="2155007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8"/>
          <p:cNvSpPr/>
          <p:nvPr/>
        </p:nvSpPr>
        <p:spPr>
          <a:xfrm>
            <a:off x="306324" y="2566487"/>
            <a:ext cx="960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Adresse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utilisateur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1293876" y="2644211"/>
            <a:ext cx="201300" cy="732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1467612" y="2607635"/>
            <a:ext cx="73200" cy="1464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1568196" y="2063567"/>
            <a:ext cx="960000" cy="123450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7" name="Google Shape;15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65376" y="2155007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8"/>
          <p:cNvSpPr/>
          <p:nvPr/>
        </p:nvSpPr>
        <p:spPr>
          <a:xfrm>
            <a:off x="1568196" y="2566487"/>
            <a:ext cx="960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Données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ouvertes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2555748" y="2644211"/>
            <a:ext cx="201300" cy="732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2729484" y="2607635"/>
            <a:ext cx="73200" cy="1464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2830068" y="2063567"/>
            <a:ext cx="960000" cy="123450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2" name="Google Shape;16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27248" y="2155007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8"/>
          <p:cNvSpPr/>
          <p:nvPr/>
        </p:nvSpPr>
        <p:spPr>
          <a:xfrm>
            <a:off x="2830068" y="2566487"/>
            <a:ext cx="960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Graphe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routier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3817620" y="2644211"/>
            <a:ext cx="201300" cy="732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3991356" y="2607635"/>
            <a:ext cx="73200" cy="1464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4091940" y="2063567"/>
            <a:ext cx="960000" cy="123450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7" name="Google Shape;167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89120" y="2155007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8"/>
          <p:cNvSpPr/>
          <p:nvPr/>
        </p:nvSpPr>
        <p:spPr>
          <a:xfrm>
            <a:off x="4091940" y="2566487"/>
            <a:ext cx="960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Matrices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de coût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5079492" y="2644211"/>
            <a:ext cx="201300" cy="732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5253228" y="2607635"/>
            <a:ext cx="73200" cy="1464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5353812" y="2063567"/>
            <a:ext cx="960000" cy="123450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2" name="Google Shape;172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50992" y="2155007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8"/>
          <p:cNvSpPr/>
          <p:nvPr/>
        </p:nvSpPr>
        <p:spPr>
          <a:xfrm>
            <a:off x="5353812" y="2566487"/>
            <a:ext cx="960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Solveur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OR-Tools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6341364" y="2644211"/>
            <a:ext cx="201300" cy="732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6515100" y="2607635"/>
            <a:ext cx="73200" cy="1464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6615684" y="2063567"/>
            <a:ext cx="960000" cy="123450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7" name="Google Shape;177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12864" y="2155007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8"/>
          <p:cNvSpPr/>
          <p:nvPr/>
        </p:nvSpPr>
        <p:spPr>
          <a:xfrm>
            <a:off x="6615684" y="2566487"/>
            <a:ext cx="960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Score /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Debriefing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7603236" y="2644211"/>
            <a:ext cx="201300" cy="732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7776972" y="2607635"/>
            <a:ext cx="73200" cy="1464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7877556" y="2063567"/>
            <a:ext cx="960000" cy="123450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2" name="Google Shape;182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74736" y="2155007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8"/>
          <p:cNvSpPr/>
          <p:nvPr/>
        </p:nvSpPr>
        <p:spPr>
          <a:xfrm>
            <a:off x="7877556" y="2566487"/>
            <a:ext cx="960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Visuali-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sation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649224" y="1700501"/>
            <a:ext cx="274200" cy="274200"/>
          </a:xfrm>
          <a:prstGeom prst="ellipse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649224" y="1700501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1911096" y="1700501"/>
            <a:ext cx="274200" cy="274200"/>
          </a:xfrm>
          <a:prstGeom prst="ellipse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1911096" y="1700501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3172968" y="1700501"/>
            <a:ext cx="274200" cy="274200"/>
          </a:xfrm>
          <a:prstGeom prst="ellipse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3172968" y="1700501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4434840" y="1700501"/>
            <a:ext cx="274200" cy="274200"/>
          </a:xfrm>
          <a:prstGeom prst="ellipse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4434840" y="1700501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5696712" y="1700501"/>
            <a:ext cx="274200" cy="274200"/>
          </a:xfrm>
          <a:prstGeom prst="ellipse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5696712" y="1700501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6958584" y="1700501"/>
            <a:ext cx="274200" cy="274200"/>
          </a:xfrm>
          <a:prstGeom prst="ellipse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6958584" y="1700501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8220456" y="1700501"/>
            <a:ext cx="274200" cy="274200"/>
          </a:xfrm>
          <a:prstGeom prst="ellipse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8220456" y="1700501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457200" y="4480560"/>
            <a:ext cx="8229600" cy="475488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566928" y="4480560"/>
            <a:ext cx="8046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💡 Une adresse devient une mission optimisée.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F14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Temps, vitesse, météo et relief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274320" y="914400"/>
            <a:ext cx="2834640" cy="306324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365760" y="96012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C8A84B"/>
                </a:solidFill>
                <a:latin typeface="Georgia"/>
                <a:ea typeface="Georgia"/>
                <a:cs typeface="Georgia"/>
                <a:sym typeface="Georgia"/>
              </a:rPr>
              <a:t>Vitesses par type de voie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384048" y="1353312"/>
            <a:ext cx="2633472" cy="2487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residential → 30 km/h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tertiary → 50 km/h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secondary → 60 km/h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bike → 18 km/h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walk → 5 km/h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3246120" y="914400"/>
            <a:ext cx="2926080" cy="3063240"/>
          </a:xfrm>
          <a:prstGeom prst="rect">
            <a:avLst/>
          </a:prstGeom>
          <a:solidFill>
            <a:srgbClr val="2A1010"/>
          </a:solidFill>
          <a:ln cap="flat" cmpd="sng" w="1905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3337560" y="96012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C8A84B"/>
                </a:solidFill>
                <a:latin typeface="Georgia"/>
                <a:ea typeface="Georgia"/>
                <a:cs typeface="Georgia"/>
                <a:sym typeface="Georgia"/>
              </a:rPr>
              <a:t>Formules de temps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3337560" y="1371600"/>
            <a:ext cx="274320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temps = distance / vitesse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temps final =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temps × facteur météo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  / speed_multiplier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3273552" y="2606040"/>
            <a:ext cx="2852928" cy="384048"/>
          </a:xfrm>
          <a:prstGeom prst="rect">
            <a:avLst/>
          </a:prstGeom>
          <a:solidFill>
            <a:srgbClr val="1A3A22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3337560" y="260604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☀  Clear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4846320" y="2606040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6350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C4A2A"/>
                </a:solidFill>
                <a:latin typeface="Calibri"/>
                <a:ea typeface="Calibri"/>
                <a:cs typeface="Calibri"/>
                <a:sym typeface="Calibri"/>
              </a:rPr>
              <a:t>×1.0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3273552" y="3044952"/>
            <a:ext cx="2852928" cy="384048"/>
          </a:xfrm>
          <a:prstGeom prst="rect">
            <a:avLst/>
          </a:prstGeom>
          <a:solidFill>
            <a:srgbClr val="3A3010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3337560" y="3044952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🌧  Rain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4846320" y="3044952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6350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8A84B"/>
                </a:solidFill>
                <a:latin typeface="Calibri"/>
                <a:ea typeface="Calibri"/>
                <a:cs typeface="Calibri"/>
                <a:sym typeface="Calibri"/>
              </a:rPr>
              <a:t>×1.3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3273552" y="3483864"/>
            <a:ext cx="2852928" cy="384048"/>
          </a:xfrm>
          <a:prstGeom prst="rect">
            <a:avLst/>
          </a:prstGeom>
          <a:solidFill>
            <a:srgbClr val="3A1010"/>
          </a:solidFill>
          <a:ln cap="flat" cmpd="sng" w="127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3337560" y="3483864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❄  Snow / Mist / Storm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4846320" y="3483864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6350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8B1A1A"/>
                </a:solidFill>
                <a:latin typeface="Calibri"/>
                <a:ea typeface="Calibri"/>
                <a:cs typeface="Calibri"/>
                <a:sym typeface="Calibri"/>
              </a:rPr>
              <a:t>×2.0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6309360" y="914400"/>
            <a:ext cx="2542032" cy="306324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6400800" y="960120"/>
            <a:ext cx="235915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C8A84B"/>
                </a:solidFill>
                <a:latin typeface="Georgia"/>
                <a:ea typeface="Georgia"/>
                <a:cs typeface="Georgia"/>
                <a:sym typeface="Georgia"/>
              </a:rPr>
              <a:t>Relief SRTM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6400800" y="1371600"/>
            <a:ext cx="23317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latitude / longitude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→ altitude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→ pente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→ ajustement du temps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6400800" y="2834640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vitesse = maxspeed OSM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ou vitesse par type de voie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274320" y="4069080"/>
            <a:ext cx="8577072" cy="384048"/>
          </a:xfrm>
          <a:prstGeom prst="rect">
            <a:avLst/>
          </a:prstGeom>
          <a:solidFill>
            <a:srgbClr val="1A2E1A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365760" y="406908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C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CC78"/>
                </a:solidFill>
                <a:latin typeface="Calibri"/>
                <a:ea typeface="Calibri"/>
                <a:cs typeface="Calibri"/>
                <a:sym typeface="Calibri"/>
              </a:rPr>
              <a:t>⚙  Options : La météo réelle et le relief SRTM sont optionnels.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274320" y="4480560"/>
            <a:ext cx="8595360" cy="475488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384048" y="448056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💡 Les temps de parcours intègrent météo réelle et relief du terrain.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4E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Des plus courts chemins aux tournées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320040" y="987552"/>
            <a:ext cx="2651760" cy="265176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320040" y="987552"/>
            <a:ext cx="2651760" cy="475488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1" name="Google Shape;24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03327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0"/>
          <p:cNvSpPr/>
          <p:nvPr/>
        </p:nvSpPr>
        <p:spPr>
          <a:xfrm>
            <a:off x="850392" y="1042416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1. Graphe OSM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457200" y="1536192"/>
            <a:ext cx="2423160" cy="1993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nœuds = intersections / points routiers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arêtes = routes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poids = temps, distance, CO₂, risque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4" name="Google Shape;24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90088" y="211226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0"/>
          <p:cNvSpPr/>
          <p:nvPr/>
        </p:nvSpPr>
        <p:spPr>
          <a:xfrm>
            <a:off x="3200400" y="987552"/>
            <a:ext cx="2651760" cy="265176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3200400" y="987552"/>
            <a:ext cx="2651760" cy="475488"/>
          </a:xfrm>
          <a:prstGeom prst="rect">
            <a:avLst/>
          </a:prstGeom>
          <a:solidFill>
            <a:srgbClr val="8B1A1A"/>
          </a:solidFill>
          <a:ln cap="flat" cmpd="sng" w="127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7" name="Google Shape;24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91840" y="103327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0"/>
          <p:cNvSpPr/>
          <p:nvPr/>
        </p:nvSpPr>
        <p:spPr>
          <a:xfrm>
            <a:off x="3730752" y="1042416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2. Plus courts chemins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3337560" y="1536192"/>
            <a:ext cx="2423160" cy="1993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Dijkstra / NetworkX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calcul entre dépôt et clients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construction des matrices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0" name="Google Shape;25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0448" y="211226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0"/>
          <p:cNvSpPr/>
          <p:nvPr/>
        </p:nvSpPr>
        <p:spPr>
          <a:xfrm>
            <a:off x="6080760" y="987552"/>
            <a:ext cx="2651760" cy="265176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6080760" y="987552"/>
            <a:ext cx="2651760" cy="475488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3" name="Google Shape;253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72200" y="103327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0"/>
          <p:cNvSpPr/>
          <p:nvPr/>
        </p:nvSpPr>
        <p:spPr>
          <a:xfrm>
            <a:off x="6611112" y="1042416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3. Problème de tournées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6217920" y="1536192"/>
            <a:ext cx="2423160" cy="1993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les matrices → entrée du VRP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OR-Tools choisit l'ordre &amp; traîneaux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contraintes : capacité, 8h, fenêtres, pénalités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320040" y="3822192"/>
            <a:ext cx="8503920" cy="475488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429768" y="3822192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💡 On ne résout pas seulement un plus court chemin : on utilise les plus courts chemins pour construire un VRP.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F14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Matrices de coût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274320" y="914400"/>
            <a:ext cx="3749040" cy="260604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411480" y="96012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8A84B"/>
                </a:solidFill>
                <a:latin typeface="Georgia"/>
                <a:ea typeface="Georgia"/>
                <a:cs typeface="Georgia"/>
                <a:sym typeface="Georgia"/>
              </a:rPr>
              <a:t>Fichiers matrices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347472" y="1371600"/>
            <a:ext cx="3657600" cy="347472"/>
          </a:xfrm>
          <a:prstGeom prst="rect">
            <a:avLst/>
          </a:prstGeom>
          <a:solidFill>
            <a:srgbClr val="1A3328"/>
          </a:solidFill>
          <a:ln cap="flat" cmpd="sng" w="12700">
            <a:solidFill>
              <a:srgbClr val="1A33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"/>
          <p:cNvSpPr/>
          <p:nvPr/>
        </p:nvSpPr>
        <p:spPr>
          <a:xfrm>
            <a:off x="411480" y="1389888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C7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8CC78"/>
                </a:solidFill>
                <a:latin typeface="Consolas"/>
                <a:ea typeface="Consolas"/>
                <a:cs typeface="Consolas"/>
                <a:sym typeface="Consolas"/>
              </a:rPr>
              <a:t>live_time_matrix.npy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2834640" y="1389888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620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Temps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347472" y="1773936"/>
            <a:ext cx="3657600" cy="347472"/>
          </a:xfrm>
          <a:prstGeom prst="rect">
            <a:avLst/>
          </a:prstGeom>
          <a:solidFill>
            <a:srgbClr val="152B20"/>
          </a:solidFill>
          <a:ln cap="flat" cmpd="sng" w="12700">
            <a:solidFill>
              <a:srgbClr val="1A33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411480" y="1792224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C7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8CC78"/>
                </a:solidFill>
                <a:latin typeface="Consolas"/>
                <a:ea typeface="Consolas"/>
                <a:cs typeface="Consolas"/>
                <a:sym typeface="Consolas"/>
              </a:rPr>
              <a:t>matrix_5eme.npy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2834640" y="1792224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620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347472" y="2176272"/>
            <a:ext cx="3657600" cy="347472"/>
          </a:xfrm>
          <a:prstGeom prst="rect">
            <a:avLst/>
          </a:prstGeom>
          <a:solidFill>
            <a:srgbClr val="1A3328"/>
          </a:solidFill>
          <a:ln cap="flat" cmpd="sng" w="12700">
            <a:solidFill>
              <a:srgbClr val="1A33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"/>
          <p:cNvSpPr/>
          <p:nvPr/>
        </p:nvSpPr>
        <p:spPr>
          <a:xfrm>
            <a:off x="411480" y="2194560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C7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8CC78"/>
                </a:solidFill>
                <a:latin typeface="Consolas"/>
                <a:ea typeface="Consolas"/>
                <a:cs typeface="Consolas"/>
                <a:sym typeface="Consolas"/>
              </a:rPr>
              <a:t>co2_matrix.npy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2834640" y="2194560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620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CO₂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347472" y="2578608"/>
            <a:ext cx="3657600" cy="347472"/>
          </a:xfrm>
          <a:prstGeom prst="rect">
            <a:avLst/>
          </a:prstGeom>
          <a:solidFill>
            <a:srgbClr val="152B20"/>
          </a:solidFill>
          <a:ln cap="flat" cmpd="sng" w="12700">
            <a:solidFill>
              <a:srgbClr val="1A33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411480" y="2596896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C7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8CC78"/>
                </a:solidFill>
                <a:latin typeface="Consolas"/>
                <a:ea typeface="Consolas"/>
                <a:cs typeface="Consolas"/>
                <a:sym typeface="Consolas"/>
              </a:rPr>
              <a:t>risk_matrix.npy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2834640" y="2596896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620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Risque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347472" y="2980944"/>
            <a:ext cx="3657600" cy="347472"/>
          </a:xfrm>
          <a:prstGeom prst="rect">
            <a:avLst/>
          </a:prstGeom>
          <a:solidFill>
            <a:srgbClr val="1A3328"/>
          </a:solidFill>
          <a:ln cap="flat" cmpd="sng" w="12700">
            <a:solidFill>
              <a:srgbClr val="1A33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1"/>
          <p:cNvSpPr/>
          <p:nvPr/>
        </p:nvSpPr>
        <p:spPr>
          <a:xfrm>
            <a:off x="411480" y="2999232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C7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8CC78"/>
                </a:solidFill>
                <a:latin typeface="Consolas"/>
                <a:ea typeface="Consolas"/>
                <a:cs typeface="Consolas"/>
                <a:sym typeface="Consolas"/>
              </a:rPr>
              <a:t>composite_cost_matrix.npy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2834640" y="2999232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620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Coût multicritère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347472" y="3401568"/>
            <a:ext cx="3657600" cy="475488"/>
          </a:xfrm>
          <a:prstGeom prst="rect">
            <a:avLst/>
          </a:prstGeom>
          <a:solidFill>
            <a:srgbClr val="0F2010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420624" y="3401568"/>
            <a:ext cx="35478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C7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E8CC78"/>
                </a:solidFill>
                <a:latin typeface="Calibri"/>
                <a:ea typeface="Calibri"/>
                <a:cs typeface="Calibri"/>
                <a:sym typeface="Calibri"/>
              </a:rPr>
              <a:t>case [i, j] = coût du plus court chemin entre i et j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4251960" y="914400"/>
            <a:ext cx="4617720" cy="2606040"/>
          </a:xfrm>
          <a:prstGeom prst="rect">
            <a:avLst/>
          </a:prstGeom>
          <a:solidFill>
            <a:srgbClr val="2A1010"/>
          </a:solidFill>
          <a:ln cap="flat" cmpd="sng" w="1905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4370832" y="960120"/>
            <a:ext cx="4343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C8A84B"/>
                </a:solidFill>
                <a:latin typeface="Georgia"/>
                <a:ea typeface="Georgia"/>
                <a:cs typeface="Georgia"/>
                <a:sym typeface="Georgia"/>
              </a:rPr>
              <a:t>Calcul CO₂ (ADEME Impact CO₂)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4370832" y="1371600"/>
            <a:ext cx="43434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ADEME si activé, sinon fallback local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CO₂ = distance_km × facteur_g/km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Voiture : 120 g/km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Vélo : 8 g/km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Marche : 0 g/km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4251960" y="3639312"/>
            <a:ext cx="4617720" cy="658368"/>
          </a:xfrm>
          <a:prstGeom prst="rect">
            <a:avLst/>
          </a:prstGeom>
          <a:solidFill>
            <a:srgbClr val="0A1A0A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4370832" y="3703320"/>
            <a:ext cx="43891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C78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E8CC78"/>
                </a:solidFill>
                <a:latin typeface="Consolas"/>
                <a:ea typeface="Consolas"/>
                <a:cs typeface="Consolas"/>
                <a:sym typeface="Consolas"/>
              </a:rPr>
              <a:t>python scripts/show_matrices.py --size 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274320" y="4462272"/>
            <a:ext cx="8595360" cy="475488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384048" y="4462272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💡 Les matrices encodent tous les coûts entre chaque paire de points.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F14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2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Sélection automatique des traîneaux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274320" y="914400"/>
            <a:ext cx="4114800" cy="150876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2"/>
          <p:cNvSpPr/>
          <p:nvPr/>
        </p:nvSpPr>
        <p:spPr>
          <a:xfrm>
            <a:off x="411480" y="96012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8A84B"/>
                </a:solidFill>
                <a:latin typeface="Georgia"/>
                <a:ea typeface="Georgia"/>
                <a:cs typeface="Georgia"/>
                <a:sym typeface="Georgia"/>
              </a:rPr>
              <a:t>Heuristique de départ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438912" y="1353312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5F5F0"/>
                </a:solidFill>
                <a:latin typeface="Consolas"/>
                <a:ea typeface="Consolas"/>
                <a:cs typeface="Consolas"/>
                <a:sym typeface="Consolas"/>
              </a:rPr>
              <a:t>k_min = ceil(poids_total / capacité)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5F5F0"/>
                </a:solidFill>
                <a:latin typeface="Consolas"/>
                <a:ea typeface="Consolas"/>
                <a:cs typeface="Consolas"/>
                <a:sym typeface="Consolas"/>
              </a:rPr>
              <a:t>k_base = ceil(nombre_clients / 3)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4617720" y="914400"/>
            <a:ext cx="4114800" cy="1508760"/>
          </a:xfrm>
          <a:prstGeom prst="rect">
            <a:avLst/>
          </a:prstGeom>
          <a:solidFill>
            <a:srgbClr val="2A1010"/>
          </a:solidFill>
          <a:ln cap="flat" cmpd="sng" w="1905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2"/>
          <p:cNvSpPr/>
          <p:nvPr/>
        </p:nvSpPr>
        <p:spPr>
          <a:xfrm>
            <a:off x="4736592" y="96012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8A84B"/>
                </a:solidFill>
                <a:latin typeface="Georgia"/>
                <a:ea typeface="Georgia"/>
                <a:cs typeface="Georgia"/>
                <a:sym typeface="Georgia"/>
              </a:rPr>
              <a:t>Optimisation du score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4736592" y="1353312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5F5F0"/>
                </a:solidFill>
                <a:latin typeface="Consolas"/>
                <a:ea typeface="Consolas"/>
                <a:cs typeface="Consolas"/>
                <a:sym typeface="Consolas"/>
              </a:rPr>
              <a:t>score = coût opérationnel + coût non-livrés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274320" y="2578608"/>
            <a:ext cx="8458200" cy="1481328"/>
          </a:xfrm>
          <a:prstGeom prst="rect">
            <a:avLst/>
          </a:prstGeom>
          <a:solidFill>
            <a:srgbClr val="121F14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2"/>
          <p:cNvSpPr/>
          <p:nvPr/>
        </p:nvSpPr>
        <p:spPr>
          <a:xfrm>
            <a:off x="411480" y="2624328"/>
            <a:ext cx="8138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C8A84B"/>
                </a:solidFill>
                <a:latin typeface="Georgia"/>
                <a:ea typeface="Georgia"/>
                <a:cs typeface="Georgia"/>
                <a:sym typeface="Georgia"/>
              </a:rPr>
              <a:t>Détails du score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438912" y="3017520"/>
            <a:ext cx="8275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5F5F0"/>
                </a:solidFill>
                <a:latin typeface="Consolas"/>
                <a:ea typeface="Consolas"/>
                <a:cs typeface="Consolas"/>
                <a:sym typeface="Consolas"/>
              </a:rPr>
              <a:t>coût opérationnel = temps + distance + coût flotte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5F5F0"/>
                </a:solidFill>
                <a:latin typeface="Consolas"/>
                <a:ea typeface="Consolas"/>
                <a:cs typeface="Consolas"/>
                <a:sym typeface="Consolas"/>
              </a:rPr>
              <a:t>coût non-livrés = drop_penalty × nombre de clients non livrés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274320" y="4462272"/>
            <a:ext cx="8595360" cy="475488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2"/>
          <p:cNvSpPr/>
          <p:nvPr/>
        </p:nvSpPr>
        <p:spPr>
          <a:xfrm>
            <a:off x="384048" y="4462272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💡 Le bon nombre de traîneaux combine couverture et rentabilité.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4E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3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3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Paramètres OR-Tools et profils IA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274320" y="914400"/>
            <a:ext cx="3200400" cy="315468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3"/>
          <p:cNvSpPr/>
          <p:nvPr/>
        </p:nvSpPr>
        <p:spPr>
          <a:xfrm>
            <a:off x="384048" y="960120"/>
            <a:ext cx="2971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C4A2A"/>
                </a:solidFill>
                <a:latin typeface="Georgia"/>
                <a:ea typeface="Georgia"/>
                <a:cs typeface="Georgia"/>
                <a:sym typeface="Georgia"/>
              </a:rPr>
              <a:t>Paramètres OR-Tools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384048" y="1353312"/>
            <a:ext cx="2971800" cy="260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onsolas"/>
              <a:buChar char="•"/>
            </a:pPr>
            <a:r>
              <a:rPr b="0" i="0" lang="en-US" sz="1000" u="none" cap="none" strike="noStrike">
                <a:solidFill>
                  <a:srgbClr val="0F1F14"/>
                </a:solidFill>
                <a:latin typeface="Consolas"/>
                <a:ea typeface="Consolas"/>
                <a:cs typeface="Consolas"/>
                <a:sym typeface="Consolas"/>
              </a:rPr>
              <a:t>first_solution_strategy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onsolas"/>
              <a:buChar char="•"/>
            </a:pPr>
            <a:r>
              <a:rPr b="0" i="0" lang="en-US" sz="1000" u="none" cap="none" strike="noStrike">
                <a:solidFill>
                  <a:srgbClr val="0F1F14"/>
                </a:solidFill>
                <a:latin typeface="Consolas"/>
                <a:ea typeface="Consolas"/>
                <a:cs typeface="Consolas"/>
                <a:sym typeface="Consolas"/>
              </a:rPr>
              <a:t>local_search_metaheuristic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onsolas"/>
              <a:buChar char="•"/>
            </a:pPr>
            <a:r>
              <a:rPr b="0" i="0" lang="en-US" sz="1000" u="none" cap="none" strike="noStrike">
                <a:solidFill>
                  <a:srgbClr val="0F1F14"/>
                </a:solidFill>
                <a:latin typeface="Consolas"/>
                <a:ea typeface="Consolas"/>
                <a:cs typeface="Consolas"/>
                <a:sym typeface="Consolas"/>
              </a:rPr>
              <a:t>solver_time_limit_s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onsolas"/>
              <a:buChar char="•"/>
            </a:pPr>
            <a:r>
              <a:rPr b="0" i="0" lang="en-US" sz="1000" u="none" cap="none" strike="noStrike">
                <a:solidFill>
                  <a:srgbClr val="0F1F14"/>
                </a:solidFill>
                <a:latin typeface="Consolas"/>
                <a:ea typeface="Consolas"/>
                <a:cs typeface="Consolas"/>
                <a:sym typeface="Consolas"/>
              </a:rPr>
              <a:t>drop_penalty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onsolas"/>
              <a:buChar char="•"/>
            </a:pPr>
            <a:r>
              <a:rPr b="0" i="0" lang="en-US" sz="1000" u="none" cap="none" strike="noStrike">
                <a:solidFill>
                  <a:srgbClr val="0F1F14"/>
                </a:solidFill>
                <a:latin typeface="Consolas"/>
                <a:ea typeface="Consolas"/>
                <a:cs typeface="Consolas"/>
                <a:sym typeface="Consolas"/>
              </a:rPr>
              <a:t>global_span_cost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onsolas"/>
              <a:buChar char="•"/>
            </a:pPr>
            <a:r>
              <a:rPr b="0" i="0" lang="en-US" sz="1000" u="none" cap="none" strike="noStrike">
                <a:solidFill>
                  <a:srgbClr val="0F1F14"/>
                </a:solidFill>
                <a:latin typeface="Consolas"/>
                <a:ea typeface="Consolas"/>
                <a:cs typeface="Consolas"/>
                <a:sym typeface="Consolas"/>
              </a:rPr>
              <a:t>vehicle_capacity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onsolas"/>
              <a:buChar char="•"/>
            </a:pPr>
            <a:r>
              <a:rPr b="0" i="0" lang="en-US" sz="1000" u="none" cap="none" strike="noStrike">
                <a:solidFill>
                  <a:srgbClr val="0F1F14"/>
                </a:solidFill>
                <a:latin typeface="Consolas"/>
                <a:ea typeface="Consolas"/>
                <a:cs typeface="Consolas"/>
                <a:sym typeface="Consolas"/>
              </a:rPr>
              <a:t>vehicle_fixed_cost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onsolas"/>
              <a:buChar char="•"/>
            </a:pPr>
            <a:r>
              <a:rPr b="0" i="0" lang="en-US" sz="1000" u="none" cap="none" strike="noStrike">
                <a:solidFill>
                  <a:srgbClr val="0F1F14"/>
                </a:solidFill>
                <a:latin typeface="Consolas"/>
                <a:ea typeface="Consolas"/>
                <a:cs typeface="Consolas"/>
                <a:sym typeface="Consolas"/>
              </a:rPr>
              <a:t>time_slack_s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00"/>
              <a:buFont typeface="Consolas"/>
              <a:buChar char="•"/>
            </a:pPr>
            <a:r>
              <a:rPr b="0" i="0" lang="en-US" sz="1000" u="none" cap="none" strike="noStrike">
                <a:solidFill>
                  <a:srgbClr val="0F1F14"/>
                </a:solidFill>
                <a:latin typeface="Consolas"/>
                <a:ea typeface="Consolas"/>
                <a:cs typeface="Consolas"/>
                <a:sym typeface="Consolas"/>
              </a:rPr>
              <a:t>max_route_time_s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3703320" y="914400"/>
            <a:ext cx="5029200" cy="987552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3"/>
          <p:cNvSpPr/>
          <p:nvPr/>
        </p:nvSpPr>
        <p:spPr>
          <a:xfrm>
            <a:off x="3703320" y="914400"/>
            <a:ext cx="1371600" cy="987552"/>
          </a:xfrm>
          <a:prstGeom prst="rect">
            <a:avLst/>
          </a:prstGeom>
          <a:solidFill>
            <a:srgbClr val="8B1A1A"/>
          </a:solidFill>
          <a:ln cap="flat" cmpd="sng" w="127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3"/>
          <p:cNvSpPr/>
          <p:nvPr/>
        </p:nvSpPr>
        <p:spPr>
          <a:xfrm>
            <a:off x="3703320" y="914400"/>
            <a:ext cx="137160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Express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5166360" y="1005840"/>
            <a:ext cx="34747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Priorité temps, vitesse agressive, recherche courte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3703320" y="1984248"/>
            <a:ext cx="5029200" cy="987552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3"/>
          <p:cNvSpPr/>
          <p:nvPr/>
        </p:nvSpPr>
        <p:spPr>
          <a:xfrm>
            <a:off x="3703320" y="1984248"/>
            <a:ext cx="1371600" cy="987552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3"/>
          <p:cNvSpPr/>
          <p:nvPr/>
        </p:nvSpPr>
        <p:spPr>
          <a:xfrm>
            <a:off x="3703320" y="1984248"/>
            <a:ext cx="137160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Écolo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5166360" y="2075688"/>
            <a:ext cx="34747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Priorité distance / CO₂, recherche conservatrice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3703320" y="3054096"/>
            <a:ext cx="5029200" cy="987552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3"/>
          <p:cNvSpPr/>
          <p:nvPr/>
        </p:nvSpPr>
        <p:spPr>
          <a:xfrm>
            <a:off x="3703320" y="3054096"/>
            <a:ext cx="1371600" cy="987552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3"/>
          <p:cNvSpPr/>
          <p:nvPr/>
        </p:nvSpPr>
        <p:spPr>
          <a:xfrm>
            <a:off x="3703320" y="3054096"/>
            <a:ext cx="137160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Prudent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5166360" y="3145536"/>
            <a:ext cx="34747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Plus de marge temporelle, meilleure tolérance aux incidents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274320" y="4224528"/>
            <a:ext cx="8595360" cy="475488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3"/>
          <p:cNvSpPr/>
          <p:nvPr/>
        </p:nvSpPr>
        <p:spPr>
          <a:xfrm>
            <a:off x="384048" y="4224528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💡 Les profils IA sont des politiques de paramétrage du solveur.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F14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4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4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4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IA apprenante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274320" y="914400"/>
            <a:ext cx="8595360" cy="64008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4"/>
          <p:cNvSpPr/>
          <p:nvPr/>
        </p:nvSpPr>
        <p:spPr>
          <a:xfrm>
            <a:off x="411480" y="914400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🎯  Objectif : apprendre quels profils et paramètres fonctionnent le mieux selon le contexte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274320" y="1719072"/>
            <a:ext cx="4114800" cy="214884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4"/>
          <p:cNvSpPr/>
          <p:nvPr/>
        </p:nvSpPr>
        <p:spPr>
          <a:xfrm>
            <a:off x="411480" y="176479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8A84B"/>
                </a:solidFill>
                <a:latin typeface="Georgia"/>
                <a:ea typeface="Georgia"/>
                <a:cs typeface="Georgia"/>
                <a:sym typeface="Georgia"/>
              </a:rPr>
              <a:t>Entrées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438912" y="2148840"/>
            <a:ext cx="3749040" cy="1627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Nombre de colis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Densité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Météo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Incidents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Budget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Score obtenu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Clients non livrés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4572000" y="1719072"/>
            <a:ext cx="4297680" cy="2148840"/>
          </a:xfrm>
          <a:prstGeom prst="rect">
            <a:avLst/>
          </a:prstGeom>
          <a:solidFill>
            <a:srgbClr val="2A1010"/>
          </a:solidFill>
          <a:ln cap="flat" cmpd="sng" w="1905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4"/>
          <p:cNvSpPr/>
          <p:nvPr/>
        </p:nvSpPr>
        <p:spPr>
          <a:xfrm>
            <a:off x="4709160" y="1764792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8A84B"/>
                </a:solidFill>
                <a:latin typeface="Georgia"/>
                <a:ea typeface="Georgia"/>
                <a:cs typeface="Georgia"/>
                <a:sym typeface="Georgia"/>
              </a:rPr>
              <a:t>Sorties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4709160" y="2148840"/>
            <a:ext cx="4023360" cy="1627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Profil recommandé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Paramétrage OR-Tools recommandé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2" name="Google Shape;35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4528" y="251460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4"/>
          <p:cNvSpPr/>
          <p:nvPr/>
        </p:nvSpPr>
        <p:spPr>
          <a:xfrm>
            <a:off x="274320" y="4005072"/>
            <a:ext cx="8595360" cy="530352"/>
          </a:xfrm>
          <a:prstGeom prst="rect">
            <a:avLst/>
          </a:prstGeom>
          <a:solidFill>
            <a:srgbClr val="2A1A0A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4"/>
          <p:cNvSpPr/>
          <p:nvPr/>
        </p:nvSpPr>
        <p:spPr>
          <a:xfrm>
            <a:off x="411480" y="4005072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C7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E8CC78"/>
                </a:solidFill>
                <a:latin typeface="Calibri"/>
                <a:ea typeface="Calibri"/>
                <a:cs typeface="Calibri"/>
                <a:sym typeface="Calibri"/>
              </a:rPr>
              <a:t>⚠  Limite : module présent mais pas encore assez entraîné pour remplacer les profils fixes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4EF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5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5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Résolution et amélioration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274320" y="914400"/>
            <a:ext cx="3977640" cy="283464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5"/>
          <p:cNvSpPr/>
          <p:nvPr/>
        </p:nvSpPr>
        <p:spPr>
          <a:xfrm>
            <a:off x="274320" y="914400"/>
            <a:ext cx="3977640" cy="41148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5"/>
          <p:cNvSpPr/>
          <p:nvPr/>
        </p:nvSpPr>
        <p:spPr>
          <a:xfrm>
            <a:off x="384048" y="91440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Solveur classique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384048" y="1389888"/>
            <a:ext cx="374904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Petites et moyennes missions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OR-Tools : solution initiale + métaheuristique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Post-traitement local 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ALNS · ILS · 3-opt · or-opt · 2-opt* · double-bridge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5"/>
          <p:cNvSpPr/>
          <p:nvPr/>
        </p:nvSpPr>
        <p:spPr>
          <a:xfrm>
            <a:off x="274320" y="3822192"/>
            <a:ext cx="3977640" cy="530352"/>
          </a:xfrm>
          <a:prstGeom prst="rect">
            <a:avLst/>
          </a:prstGeom>
          <a:solidFill>
            <a:srgbClr val="EAF3EC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5"/>
          <p:cNvSpPr/>
          <p:nvPr/>
        </p:nvSpPr>
        <p:spPr>
          <a:xfrm>
            <a:off x="384048" y="3822192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C4A2A"/>
                </a:solidFill>
                <a:latin typeface="Calibri"/>
                <a:ea typeface="Calibri"/>
                <a:cs typeface="Calibri"/>
                <a:sym typeface="Calibri"/>
              </a:rPr>
              <a:t>OR-Tools trouve une bonne solution → post-traitement l'améliore localement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4480560" y="914400"/>
            <a:ext cx="4343400" cy="283464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5"/>
          <p:cNvSpPr/>
          <p:nvPr/>
        </p:nvSpPr>
        <p:spPr>
          <a:xfrm>
            <a:off x="4480560" y="914400"/>
            <a:ext cx="4343400" cy="411480"/>
          </a:xfrm>
          <a:prstGeom prst="rect">
            <a:avLst/>
          </a:prstGeom>
          <a:solidFill>
            <a:srgbClr val="8B1A1A"/>
          </a:solidFill>
          <a:ln cap="flat" cmpd="sng" w="127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5"/>
          <p:cNvSpPr/>
          <p:nvPr/>
        </p:nvSpPr>
        <p:spPr>
          <a:xfrm>
            <a:off x="4590288" y="91440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Solveur large scale (≥ 150 colis)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5"/>
          <p:cNvSpPr/>
          <p:nvPr/>
        </p:nvSpPr>
        <p:spPr>
          <a:xfrm>
            <a:off x="4590288" y="1389888"/>
            <a:ext cx="41148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Génération de tournées candidates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Chaque tournée respecte dépôt, capacité, 8h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Sélection avec CP-SAT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Pénalités pour colis non livrés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274320" y="4462272"/>
            <a:ext cx="8595360" cy="475488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5"/>
          <p:cNvSpPr/>
          <p:nvPr/>
        </p:nvSpPr>
        <p:spPr>
          <a:xfrm>
            <a:off x="384048" y="4462272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💡 On garde le solveur classique, on l'améliore localement, puis on ajoute une stratégie adaptée aux très grandes missions.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F14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6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6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6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Score final et benchmark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6"/>
          <p:cNvSpPr/>
          <p:nvPr/>
        </p:nvSpPr>
        <p:spPr>
          <a:xfrm>
            <a:off x="274320" y="914400"/>
            <a:ext cx="4206240" cy="306324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6"/>
          <p:cNvSpPr/>
          <p:nvPr/>
        </p:nvSpPr>
        <p:spPr>
          <a:xfrm>
            <a:off x="411480" y="96012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8A84B"/>
                </a:solidFill>
                <a:latin typeface="Georgia"/>
                <a:ea typeface="Georgia"/>
                <a:cs typeface="Georgia"/>
                <a:sym typeface="Georgia"/>
              </a:rPr>
              <a:t>Score final (pondération)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6"/>
          <p:cNvSpPr/>
          <p:nvPr/>
        </p:nvSpPr>
        <p:spPr>
          <a:xfrm>
            <a:off x="347472" y="138988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C78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E8CC78"/>
                </a:solidFill>
                <a:latin typeface="Georgia"/>
                <a:ea typeface="Georgia"/>
                <a:cs typeface="Georgia"/>
                <a:sym typeface="Georgia"/>
              </a:rPr>
              <a:t>Temps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6"/>
          <p:cNvSpPr/>
          <p:nvPr/>
        </p:nvSpPr>
        <p:spPr>
          <a:xfrm>
            <a:off x="347472" y="1664208"/>
            <a:ext cx="1399032" cy="237744"/>
          </a:xfrm>
          <a:prstGeom prst="rect">
            <a:avLst/>
          </a:prstGeom>
          <a:solidFill>
            <a:srgbClr val="8B1A1A"/>
          </a:solidFill>
          <a:ln cap="flat" cmpd="sng" w="127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6"/>
          <p:cNvSpPr/>
          <p:nvPr/>
        </p:nvSpPr>
        <p:spPr>
          <a:xfrm>
            <a:off x="3520440" y="1664208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B1A1A"/>
                </a:solidFill>
                <a:latin typeface="Calibri"/>
                <a:ea typeface="Calibri"/>
                <a:cs typeface="Calibri"/>
                <a:sym typeface="Calibri"/>
              </a:rPr>
              <a:t>45%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6"/>
          <p:cNvSpPr/>
          <p:nvPr/>
        </p:nvSpPr>
        <p:spPr>
          <a:xfrm>
            <a:off x="347472" y="195681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C78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E8CC78"/>
                </a:solidFill>
                <a:latin typeface="Georgia"/>
                <a:ea typeface="Georgia"/>
                <a:cs typeface="Georgia"/>
                <a:sym typeface="Georgia"/>
              </a:rPr>
              <a:t>Couverture colis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6"/>
          <p:cNvSpPr/>
          <p:nvPr/>
        </p:nvSpPr>
        <p:spPr>
          <a:xfrm>
            <a:off x="347472" y="2231136"/>
            <a:ext cx="777240" cy="237744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6"/>
          <p:cNvSpPr/>
          <p:nvPr/>
        </p:nvSpPr>
        <p:spPr>
          <a:xfrm>
            <a:off x="3520440" y="2231136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4A2A"/>
                </a:solidFill>
                <a:latin typeface="Calibri"/>
                <a:ea typeface="Calibri"/>
                <a:cs typeface="Calibri"/>
                <a:sym typeface="Calibri"/>
              </a:rPr>
              <a:t>25%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6"/>
          <p:cNvSpPr/>
          <p:nvPr/>
        </p:nvSpPr>
        <p:spPr>
          <a:xfrm>
            <a:off x="347472" y="252374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C78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E8CC78"/>
                </a:solidFill>
                <a:latin typeface="Georgia"/>
                <a:ea typeface="Georgia"/>
                <a:cs typeface="Georgia"/>
                <a:sym typeface="Georgia"/>
              </a:rPr>
              <a:t>CO₂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6"/>
          <p:cNvSpPr/>
          <p:nvPr/>
        </p:nvSpPr>
        <p:spPr>
          <a:xfrm>
            <a:off x="347472" y="2798064"/>
            <a:ext cx="621792" cy="23774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6"/>
          <p:cNvSpPr/>
          <p:nvPr/>
        </p:nvSpPr>
        <p:spPr>
          <a:xfrm>
            <a:off x="3520440" y="2798064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8A84B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6"/>
          <p:cNvSpPr/>
          <p:nvPr/>
        </p:nvSpPr>
        <p:spPr>
          <a:xfrm>
            <a:off x="347472" y="309067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C78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E8CC78"/>
                </a:solidFill>
                <a:latin typeface="Georgia"/>
                <a:ea typeface="Georgia"/>
                <a:cs typeface="Georgia"/>
                <a:sym typeface="Georgia"/>
              </a:rPr>
              <a:t>Budget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6"/>
          <p:cNvSpPr/>
          <p:nvPr/>
        </p:nvSpPr>
        <p:spPr>
          <a:xfrm>
            <a:off x="347472" y="3364992"/>
            <a:ext cx="310896" cy="237744"/>
          </a:xfrm>
          <a:prstGeom prst="rect">
            <a:avLst/>
          </a:prstGeom>
          <a:solidFill>
            <a:srgbClr val="718096"/>
          </a:solidFill>
          <a:ln cap="flat" cmpd="sng" w="12700">
            <a:solidFill>
              <a:srgbClr val="7180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6"/>
          <p:cNvSpPr/>
          <p:nvPr/>
        </p:nvSpPr>
        <p:spPr>
          <a:xfrm>
            <a:off x="3520440" y="3364992"/>
            <a:ext cx="502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10%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6"/>
          <p:cNvSpPr/>
          <p:nvPr/>
        </p:nvSpPr>
        <p:spPr>
          <a:xfrm>
            <a:off x="4709160" y="914400"/>
            <a:ext cx="4114800" cy="3063240"/>
          </a:xfrm>
          <a:prstGeom prst="rect">
            <a:avLst/>
          </a:prstGeom>
          <a:solidFill>
            <a:srgbClr val="2A1010"/>
          </a:solidFill>
          <a:ln cap="flat" cmpd="sng" w="1905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6"/>
          <p:cNvSpPr/>
          <p:nvPr/>
        </p:nvSpPr>
        <p:spPr>
          <a:xfrm>
            <a:off x="4828032" y="96012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8A84B"/>
                </a:solidFill>
                <a:latin typeface="Georgia"/>
                <a:ea typeface="Georgia"/>
                <a:cs typeface="Georgia"/>
                <a:sym typeface="Georgia"/>
              </a:rPr>
              <a:t>Benchmark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6"/>
          <p:cNvSpPr/>
          <p:nvPr/>
        </p:nvSpPr>
        <p:spPr>
          <a:xfrm>
            <a:off x="4828032" y="1371600"/>
            <a:ext cx="3840480" cy="1993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Tournée naïve vs optimisée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Temps gagné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Distance réduite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CO₂ économisé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Clients livrés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6"/>
          <p:cNvSpPr/>
          <p:nvPr/>
        </p:nvSpPr>
        <p:spPr>
          <a:xfrm>
            <a:off x="274320" y="4462272"/>
            <a:ext cx="8595360" cy="475488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6"/>
          <p:cNvSpPr/>
          <p:nvPr/>
        </p:nvSpPr>
        <p:spPr>
          <a:xfrm>
            <a:off x="384048" y="4462272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💡 Le résultat n'est pas seulement une route : c'est une solution évaluée avec plusieurs critères.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F14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7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7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Engineering du projet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7"/>
          <p:cNvSpPr/>
          <p:nvPr/>
        </p:nvSpPr>
        <p:spPr>
          <a:xfrm>
            <a:off x="274320" y="914400"/>
            <a:ext cx="2724912" cy="306324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7"/>
          <p:cNvSpPr/>
          <p:nvPr/>
        </p:nvSpPr>
        <p:spPr>
          <a:xfrm>
            <a:off x="274320" y="914400"/>
            <a:ext cx="2724912" cy="45720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2" name="Google Shape;41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9601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17"/>
          <p:cNvSpPr/>
          <p:nvPr/>
        </p:nvSpPr>
        <p:spPr>
          <a:xfrm>
            <a:off x="777240" y="914400"/>
            <a:ext cx="21762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Architecture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7"/>
          <p:cNvSpPr/>
          <p:nvPr/>
        </p:nvSpPr>
        <p:spPr>
          <a:xfrm>
            <a:off x="411480" y="1444752"/>
            <a:ext cx="2496312" cy="2441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Backend FastAPI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Frontend Next.js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Cache par mission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Scripts de debug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7"/>
          <p:cNvSpPr/>
          <p:nvPr/>
        </p:nvSpPr>
        <p:spPr>
          <a:xfrm>
            <a:off x="3163824" y="914400"/>
            <a:ext cx="2724912" cy="3063240"/>
          </a:xfrm>
          <a:prstGeom prst="rect">
            <a:avLst/>
          </a:prstGeom>
          <a:solidFill>
            <a:srgbClr val="2A1010"/>
          </a:solidFill>
          <a:ln cap="flat" cmpd="sng" w="1905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7"/>
          <p:cNvSpPr/>
          <p:nvPr/>
        </p:nvSpPr>
        <p:spPr>
          <a:xfrm>
            <a:off x="3163824" y="914400"/>
            <a:ext cx="2724912" cy="457200"/>
          </a:xfrm>
          <a:prstGeom prst="rect">
            <a:avLst/>
          </a:prstGeom>
          <a:solidFill>
            <a:srgbClr val="8B1A1A"/>
          </a:solidFill>
          <a:ln cap="flat" cmpd="sng" w="127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7" name="Google Shape;41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55264" y="9601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7"/>
          <p:cNvSpPr/>
          <p:nvPr/>
        </p:nvSpPr>
        <p:spPr>
          <a:xfrm>
            <a:off x="3666744" y="914400"/>
            <a:ext cx="21762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Robustesse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7"/>
          <p:cNvSpPr/>
          <p:nvPr/>
        </p:nvSpPr>
        <p:spPr>
          <a:xfrm>
            <a:off x="3300984" y="1444752"/>
            <a:ext cx="2496312" cy="2441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Fallbacks locaux si API indisponible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Mode drive auto pour grandes missions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Limite classique / large scale selon le nb de colis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7"/>
          <p:cNvSpPr/>
          <p:nvPr/>
        </p:nvSpPr>
        <p:spPr>
          <a:xfrm>
            <a:off x="6053328" y="914400"/>
            <a:ext cx="2724912" cy="3063240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7"/>
          <p:cNvSpPr/>
          <p:nvPr/>
        </p:nvSpPr>
        <p:spPr>
          <a:xfrm>
            <a:off x="6053328" y="914400"/>
            <a:ext cx="2724912" cy="457200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2" name="Google Shape;42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44768" y="9601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17"/>
          <p:cNvSpPr/>
          <p:nvPr/>
        </p:nvSpPr>
        <p:spPr>
          <a:xfrm>
            <a:off x="6556248" y="914400"/>
            <a:ext cx="21762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Performance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7"/>
          <p:cNvSpPr/>
          <p:nvPr/>
        </p:nvSpPr>
        <p:spPr>
          <a:xfrm>
            <a:off x="6190488" y="1444752"/>
            <a:ext cx="2496312" cy="2441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Matrices sauvegardées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Génération parallèle de candidates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Tests sur solveur, API et post-traitement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7"/>
          <p:cNvSpPr/>
          <p:nvPr/>
        </p:nvSpPr>
        <p:spPr>
          <a:xfrm>
            <a:off x="274320" y="4462272"/>
            <a:ext cx="8595360" cy="475488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7"/>
          <p:cNvSpPr/>
          <p:nvPr/>
        </p:nvSpPr>
        <p:spPr>
          <a:xfrm>
            <a:off x="384048" y="4462272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F14"/>
                </a:solidFill>
                <a:latin typeface="Calibri"/>
                <a:ea typeface="Calibri"/>
                <a:cs typeface="Calibri"/>
                <a:sym typeface="Calibri"/>
              </a:rPr>
              <a:t>💡 Le projet ne se limite pas à l'algorithme : il a fallu rendre le solveur utilisable dans une application complète.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F14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8B1A1A"/>
          </a:solidFill>
          <a:ln cap="flat" cmpd="sng" w="127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8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8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Difficultés, limites et conclusion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8"/>
          <p:cNvSpPr/>
          <p:nvPr/>
        </p:nvSpPr>
        <p:spPr>
          <a:xfrm>
            <a:off x="274320" y="914400"/>
            <a:ext cx="4114800" cy="2176272"/>
          </a:xfrm>
          <a:prstGeom prst="rect">
            <a:avLst/>
          </a:prstGeom>
          <a:solidFill>
            <a:srgbClr val="2A1010"/>
          </a:solidFill>
          <a:ln cap="flat" cmpd="sng" w="1905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8"/>
          <p:cNvSpPr/>
          <p:nvPr/>
        </p:nvSpPr>
        <p:spPr>
          <a:xfrm>
            <a:off x="274320" y="914400"/>
            <a:ext cx="4114800" cy="384048"/>
          </a:xfrm>
          <a:prstGeom prst="rect">
            <a:avLst/>
          </a:prstGeom>
          <a:solidFill>
            <a:srgbClr val="8B1A1A"/>
          </a:solidFill>
          <a:ln cap="flat" cmpd="sng" w="127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7" name="Google Shape;43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" y="95097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18"/>
          <p:cNvSpPr/>
          <p:nvPr/>
        </p:nvSpPr>
        <p:spPr>
          <a:xfrm>
            <a:off x="713232" y="914400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Difficultés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8"/>
          <p:cNvSpPr/>
          <p:nvPr/>
        </p:nvSpPr>
        <p:spPr>
          <a:xfrm>
            <a:off x="384048" y="1353312"/>
            <a:ext cx="3840480" cy="1627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Graphes OSM lourds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APIs externes instables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Passage à 1000 colis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Choix du nombre de traîneaux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Clients non livrés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Affichage frontend lourd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8"/>
          <p:cNvSpPr/>
          <p:nvPr/>
        </p:nvSpPr>
        <p:spPr>
          <a:xfrm>
            <a:off x="4572000" y="914400"/>
            <a:ext cx="4251960" cy="2176272"/>
          </a:xfrm>
          <a:prstGeom prst="rect">
            <a:avLst/>
          </a:prstGeom>
          <a:solidFill>
            <a:srgbClr val="1E3A28"/>
          </a:solidFill>
          <a:ln cap="flat" cmpd="sng" w="1905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8"/>
          <p:cNvSpPr/>
          <p:nvPr/>
        </p:nvSpPr>
        <p:spPr>
          <a:xfrm>
            <a:off x="4572000" y="914400"/>
            <a:ext cx="4251960" cy="384048"/>
          </a:xfrm>
          <a:prstGeom prst="rect">
            <a:avLst/>
          </a:prstGeom>
          <a:solidFill>
            <a:srgbClr val="C8A84B"/>
          </a:solidFill>
          <a:ln cap="flat" cmpd="sng" w="127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8"/>
          <p:cNvSpPr/>
          <p:nvPr/>
        </p:nvSpPr>
        <p:spPr>
          <a:xfrm>
            <a:off x="4681728" y="914400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F14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F1F14"/>
                </a:solidFill>
                <a:latin typeface="Georgia"/>
                <a:ea typeface="Georgia"/>
                <a:cs typeface="Georgia"/>
                <a:sym typeface="Georgia"/>
              </a:rPr>
              <a:t>Limites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8"/>
          <p:cNvSpPr/>
          <p:nvPr/>
        </p:nvSpPr>
        <p:spPr>
          <a:xfrm>
            <a:off x="4681728" y="1353312"/>
            <a:ext cx="4005072" cy="1627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Clients simulés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Optimalité globale non garantie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OSM lent sur grands rayons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5F5F0"/>
                </a:solidFill>
                <a:latin typeface="Calibri"/>
                <a:ea typeface="Calibri"/>
                <a:cs typeface="Calibri"/>
                <a:sym typeface="Calibri"/>
              </a:rPr>
              <a:t>IA apprenante pas encore assez entraînée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8"/>
          <p:cNvSpPr/>
          <p:nvPr/>
        </p:nvSpPr>
        <p:spPr>
          <a:xfrm>
            <a:off x="274320" y="3218688"/>
            <a:ext cx="8595360" cy="1444752"/>
          </a:xfrm>
          <a:prstGeom prst="rect">
            <a:avLst/>
          </a:prstGeom>
          <a:solidFill>
            <a:srgbClr val="1C4A2A"/>
          </a:solidFill>
          <a:ln cap="flat" cmpd="sng" w="25400">
            <a:solidFill>
              <a:srgbClr val="C8A84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5" name="Google Shape;44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4048" y="336499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18"/>
          <p:cNvSpPr/>
          <p:nvPr/>
        </p:nvSpPr>
        <p:spPr>
          <a:xfrm>
            <a:off x="868680" y="3218688"/>
            <a:ext cx="7863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A84B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C8A84B"/>
                </a:solidFill>
                <a:latin typeface="Georgia"/>
                <a:ea typeface="Georgia"/>
                <a:cs typeface="Georgia"/>
                <a:sym typeface="Georgia"/>
              </a:rPr>
              <a:t>Conclusion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8"/>
          <p:cNvSpPr/>
          <p:nvPr/>
        </p:nvSpPr>
        <p:spPr>
          <a:xfrm>
            <a:off x="384048" y="3712464"/>
            <a:ext cx="8275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350"/>
              <a:buFont typeface="Georgia"/>
              <a:buNone/>
            </a:pPr>
            <a:r>
              <a:rPr b="0" i="1" lang="en-US" sz="1350" u="none" cap="none" strike="noStrike">
                <a:solidFill>
                  <a:srgbClr val="F5F5F0"/>
                </a:solidFill>
                <a:latin typeface="Georgia"/>
                <a:ea typeface="Georgia"/>
                <a:cs typeface="Georgia"/>
                <a:sym typeface="Georgia"/>
              </a:rPr>
              <a:t>Les graphes et l'open data permettent de construire une aide à la décision réaliste pour organiser les tournées de livraison du Père Noël.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