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88952" cy="3291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00200"/>
            <a:ext cx="12188952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37760"/>
            <a:ext cx="12188952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Operation Noël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39C12"/>
                </a:solidFill>
              </a:rPr>
              <a:t>Optimisation Logistique Urbaine du Père Noël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CF0F1"/>
                </a:solidFill>
              </a:rPr>
              <a:t>Vehicle Routing Problem with Time Windows (VRPTW) • Open Data • Théorie des Graphes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Matière : Graphes &amp; Open Data  | 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▸  Contexte &amp; Problématique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▸  Open Data : sources et données utilisées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▸  Théorie des Graphes : modélisation du réseau routier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7004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▸  Analyse du graphe (centralité, robustesse)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4553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▸  Algorithmes de cheminement (Dijkstra, A*, A* bidirectionnel)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2102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▸  Problème VRPTW &amp; optimisation (OR-Tools)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965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▸  Clustering spatial (K-Means)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▸  Profils IA &amp; résultats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4748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▸  Architecture &amp; démo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22975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▸  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Pourquoi optimiser les livraisons du Père Noël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 défi logistique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▸  Chaque 24 décembre, des milliards de colis doivent être livrés en une nuit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▸  Contraintes réelles imposées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671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Fenêtres de temps : chaque maison a un créneau de livraison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Capacité limitée : chaque traîneau ne peut porter qu'un certain poids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Conditions météo : neige, vent → vitesse réduite (API Open-Meteo)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954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Incidents routiers : rues bloquées, travaux, accidents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593591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Ce problème = VRPTW (Vehicle Routing Problem with Time Windows)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96511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▸  Complexité NP-difficile → impossible à résoudre par force brute au-delà de ~20 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8055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▸  Notre solution : graphes réels (OSMnx) + solveur (OR-Tools) + IA apprenante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Open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Les sources de données ouvertes au cœur du projet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Sources Open Data utilisées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9C12"/>
                </a:solidFill>
              </a:rPr>
              <a:t>▸  OpenStreetMap (OSMnx)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1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Graphe routier réel de Paris 5ème : 124 nœuds, 210 arêtes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3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Chaque nœud = intersection, chaque arête = segment de rue avec longueur + vitesse légale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7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Exporté en .graphml via OSMnx → persisté localement (core_data/paris5.graphml)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19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9C12"/>
                </a:solidFill>
              </a:rPr>
              <a:t>▸  Open-Meteo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5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Météo en temps réel (température, vitesse du vent, code météo)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38143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Impact dynamique sur la vitesse des traîneaux (ex. neige → -30%)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7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Gratuite, sans clé API, haute résolution géographique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06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9C12"/>
                </a:solidFill>
              </a:rPr>
              <a:t>▸  Données de livraison générées (synthetic open data)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Adresses réelles géocodées via OSMnx (pas de simulation fictive)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0118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Matrices de coût temps stockées en .npy (NumPy binaire)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Pipeline Open Data — De la rue au graphe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1. Requête OSMnx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1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86FF"/>
                </a:solidFill>
              </a:rPr>
              <a:t>    • osmnx.graph_from_place("Paris 5e Arrondissement, France", network_type="drive")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7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2. Projection &amp; nettoyage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9151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Simplification du graphe, suppression des nœuds isolés, projection UTM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19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3. Calcul des poids temporels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90671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86FF"/>
                </a:solidFill>
              </a:rPr>
              <a:t>    • Pour chaque arête : t = distance / (speed_limit × weather_factor)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7471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4. Matrice de coût (all-pairs Dijkstra)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22191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Précalcul de toutes les distances entre points de livraison → matrice N×N stockée en .npy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06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5. Reproductibilité garantie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537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Hash SHA-256 du graphe + matrices → vérification make repro-check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Théorie des Graphes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Modélisation mathématique du réseau routier parisien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Modélisation du Réseau Routier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Type : Graphe orienté pondéré (Directed Weighted MultiGraph)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Orienté : les rues à sens unique sont représentées avec des arêtes directionnelles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3969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Pondéré : chaque arête a un poids = temps de trajet en secondes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2374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Multi-graphe : deux nœuds peuvent être reliés par plusieurs arêtes (voies parallèles)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26663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▸  Caractéristiques du graphe (Paris 5ème)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10711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Nœuds : 124  |  Arêtes : 210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58183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Chemin moyen (avg shortest path) : 13.49 sauts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05655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Diamètre du graphe :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53127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Densité : 0.014  |  Coefficient de clustering moyen : 0.069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56047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A86FF"/>
                </a:solidFill>
              </a:rPr>
              <a:t>▸  Format de stockage : .graphml (standard XML interopérable)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Analyse du Graphe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Centralité, robustesse et points critiques du réseau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Analyse de Centralité d'Intermédiarité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Betweenness Centrality (BC) : fraction des plus courts chemins passant par un nœud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▸  Un BC élevé = nœud critique → sa suppression fragmente le réseau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3113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▸  Top 5 nœuds critiques — Paris 5ème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1518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392B"/>
                </a:solidFill>
              </a:rPr>
              <a:t>    • #1  Pont Marie               (BC = 0.484)  → ~48% des chemins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6265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#2  Rue du Pont Louis-Philippe (BC = 0.417)  → axe Nord-Sud majeur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10127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#3  Rue Saint-Paul             (BC = 0.405)  → entrée de quartier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59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#4  Quai de l'Hôtel de Ville  (BC = 0.404)  → pont vers Île de la Cité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050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#5  Quai de l'Hôtel de Ville  (BC = 0.398)  → nœud adjacent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80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▸  Application : l'IA reroute automatiquement si un nœud critique est en incident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Analyse de Robustesse du Réseau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Simulation : suppression progressive de nœuds → mesure de la perte de connectivité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Attaque ciblée (nœuds les plus centraux en premier)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0392B"/>
                </a:solidFill>
              </a:rPr>
              <a:t>    • Suppression de 1 nœud  →  perte de 60.5% de la composante connexe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0591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Suppression de 5 nœuds →  perte de 66.9%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98063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Suppression de 10 nœuds → perte de 72.6%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73551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Attaque aléatoire (nœuds quelconques)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21023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    • Suppression de 5 nœuds →  perte de seulement 13.7%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96511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▸  Ratio de dévastation : 4.9×  →  le réseau est très vulnérable aux attaques ciblées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A86FF"/>
                </a:solidFill>
              </a:rPr>
              <a:t>▸  Implication : un seul incident sur le Pont Marie force &gt;48% des tournées à se recalculer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Algorithmes de Cheminement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Dijkstra, A* et A* bidirectionnel sur graphe routier réel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Comparaison des Algorithmes de Cheminement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0" y="1188720"/>
            <a:ext cx="36576" cy="5303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Dijkstra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0078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Exploration uniforme depuis la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214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Garantit le chemin optimal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4203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392B"/>
                </a:solidFill>
              </a:rPr>
              <a:t>  Explore TOUS les nœuds accessibles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6265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Usage : calcul de la matrice de coût globale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7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0390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A* (A-Star)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245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Heuristique : distance Haversine (vol d'oiseau)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645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Guide l'exploration vers la destination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6577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Optimal si heuristique admissible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486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Usage : navigation en temps réel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2801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A* Bidirectionnel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70078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Deux recherches simultanées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2140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86FF"/>
                </a:solidFill>
              </a:rPr>
              <a:t>  Source → Destination ET Dest →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54203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Convergence quand les deux fronts se rejoignent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6265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Explore 20-40% de nœuds en moins que Dijkstra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8327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Même résultat optimal, plus rapide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80390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22452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Résultat sur le graphe Paris 5ème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64515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Dijkstra : 124 nœuds explorés en moyenne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06577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A*        : ~80 nœuds (35% de gain)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486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  A* bidi   : ~70 nœuds (43% de gain)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VRPTW &amp; OR-Tools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Optimisation combinatoire avec Google OR-Tools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 Problème VRPTW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9C12"/>
                </a:solidFill>
              </a:rPr>
              <a:t>▸  Vehicle Routing Problem with Time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Objectif : minimiser le temps total de livraison sous contraintes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Contraintes modélisées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Fenêtres de temps [earliest, latest] par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1635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Capacité maximale par traîneau (poids total des colis)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363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Retour au dépôt obligatoire après chaque tournée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564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Pénalité pour abandon de client (drop_penalty)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9534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Complexité : NP-difficile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4281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Pour N=20 clients → espace de solutions : 20! ≈ 2.4 × 10¹⁸ combinaisons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62855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0392B"/>
                </a:solidFill>
              </a:rPr>
              <a:t>    • Résolution exacte impossible → métaheuristiques nécessaires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Stratégie de Résolution OR-Tools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Phase 1 : Solution initiale (PATH_CHEAPEST_ARC)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3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Heuristique gloutonne : connecte les arêtes les moins coûteuses en priorité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7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Rapide, solution de départ réalisable en quelques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50591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Phase 2 : Amélioration (GUIDED_LOCAL_SEARCH)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Explore les voisinages de la solution courante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Pénalise les arêtes fréquemment utilisées → évite les optima locaux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0215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Limite de temps configurable (1s à 30s selon contexte)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4106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Phase 3 : Post-traitement (ALNS + ILS)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5254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ALNS : Adaptive Large Neighborhood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7258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ILS : Iterated Local Search avec garde d'intégrité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Politiques OR-Tools testées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6 politiques évaluées sur les mêmes instances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86FF"/>
                </a:solidFill>
              </a:rPr>
              <a:t>    • pca_gls_fast     → PATH_CHEAPEST_ARC + GLS, rapide (1s)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66543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pca_sa_balanced  → PATH_CHEAPEST_ARC + Simulated Annealing, équilibré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14015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pci_gls_deep     → PATH_CHEAPEST_INSERT + GLS, approfondi (30s)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61487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savings_tabu     → Savings heuristic + Tabu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5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    • pca_gls_distance → Optimisation distance (profil Ecolo)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56431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    • pci_gls_distance → Insertion + distance (profil Ecolo approfondi)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3191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▸  Reproductibilité : toutes les politiques → taux 1.0 (100%)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70831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Déterminisme garanti par seed explicite propagée à OR-Tools, ALNS et ILS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Clustering Spatial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Sectorisation K-Means pour la scalabilité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Sectorisation par K-Means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Problème : le VRPTW est NP-difficile → temps exponentiel avec N 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Solution : Divide &amp; Conquer en 2 étapes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66543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Étape 1 — Clustering : diviser les clients en K secteurs (1 par traîneau)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8658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Étape 2 — Optimisation locale : résoudre un TSP dans chaque secteur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254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Algorithme K-Means (implémentation NumPy, sans scikit-learn)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729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Initialisation : K centroïdes aléatoires (ou K-Means++)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930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Attribution : chaque client → secteur dont le centroïde est le plus proche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130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Mise à jour : centroïde = moyenne des positions du secteur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33087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Convergence : répéter jusqu'à stabilité des affectations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72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▸  Résultat Paris 5ème : Zone 0 (N-O: 2 clients), Zone 1 (Est: 5), Zone 2 (S-E: 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9194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86FF"/>
                </a:solidFill>
              </a:rPr>
              <a:t>▸  Carte interactive générée : production_output/clustering_map.html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Profils IA &amp; Résultats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L'IA qui apprend à choisir la meilleure stratégie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Profils IA et Auto-Suggestion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6 profils IA disponibles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3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86FF"/>
                </a:solidFill>
              </a:rPr>
              <a:t>    • Express      → Minimise le temps de trajet (vitesse max)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7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    • Ecolo        → Minimise la distance et le CO₂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Prudent      → Évite les zones à risque incident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Opportuniste → Optimise le score pondéré multi-objectif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Agressive    → Maximum de colis livrés, même hors délai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39C12"/>
                </a:solidFill>
              </a:rPr>
              <a:t>    • Championne   → Profil appris par le modèle IA sur données historiques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673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IA apprenante (modèle v2.0)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5137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Recommande le meilleur profil selon le contexte (taille, météo, incidents)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7141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Auto-Tuner OR-Tools : apprend les hyperparamètres optimaux du solveur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91455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Split stratifié par contexte pour une évaluation fiable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Résultats : IA vs Humain (5 missions, 20 clients)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2834640" cy="32004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283464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39C12"/>
                </a:solidFill>
              </a:rPr>
              <a:t>36.7%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00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Réduction du temps de trajet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4903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CF0F1"/>
                </a:solidFill>
              </a:rPr>
              <a:t>1972s (humain) → 1249s (IA)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834640" cy="32004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83464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9202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ECC71"/>
                </a:solidFill>
              </a:rPr>
              <a:t>36.1%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200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Réduction de la distance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74903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CF0F1"/>
                </a:solidFill>
              </a:rPr>
              <a:t>10.86km → 6.94km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371600"/>
            <a:ext cx="2834640" cy="32004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371600"/>
            <a:ext cx="2834640" cy="73152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9202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A86FF"/>
                </a:solidFill>
              </a:rPr>
              <a:t>53.2%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200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Score benchmark (économies)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4903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CF0F1"/>
                </a:solidFill>
              </a:rPr>
              <a:t>44min de trajet économisées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371600"/>
            <a:ext cx="2834640" cy="32004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371600"/>
            <a:ext cx="283464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9202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0392B"/>
                </a:solidFill>
              </a:rPr>
              <a:t>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200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Taux de reproductibilité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74903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CF0F1"/>
                </a:solidFill>
              </a:rPr>
              <a:t>SHA-256 identique sur 2 passes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Benchmark Multi-Villes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Script multi_city_benchmark.py : tester plusieurs villes en un seul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Villes supportées (données OSMnx)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Le Marais, Paris  |  Mitte, Berlin  |  Vieux Lyon, Lyon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Quartier des Marolles, Bruxelles  |  Et toute zone OSMnx valide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9864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▸  Protocole expérimental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N missions générées par ville (seedées, reproductibles)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M politiques OR-Tools testées sur les mêmes instances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P passes de vérification pour le déterminisme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Sortie : meilleure politique par ville + coût composite + delta vs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681727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86FF"/>
                </a:solidFill>
              </a:rPr>
              <a:t>▸  make multi-city-benchmark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Architecture &amp; Démo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Stack technique et fonctionnalités de la plateforme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0" y="1188720"/>
            <a:ext cx="36576" cy="5303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Backend — FastAPI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0078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API REST + WebSocket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214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OR-Tools (Google) : solveur VRPTW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4203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OSMnx + NetworkX : graphe routier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6265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Open-Meteo : météo temps réel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7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SQLite : leaderboard persistant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0390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245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Frontend — Next.js 14 + 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645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Leaflet.js : carte interactive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6577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Visualisation des tournées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486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Replay animé Humain vs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90702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Panneau de mission &amp; sidebar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2801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Fonctionnalités clés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0078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Mode Joueur : l'humain choisit ses routes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12140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Mode IA : solveur OR-Tools joue seul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4203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Mode Versus : Humain vs IA en temps réel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96265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Auto-suggestion : IA conseille le joueur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38327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Incidents : reroutage automatique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80390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Météo réelle appliquée à la vitesse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22452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64515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▸  DevOps &amp; Qualité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06577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Docker Compose (make docker)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486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Suite de tests (pytest) : 15+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90702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make repro-check : vérif. SHA-256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632764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Makefile : install, dev, test, docker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Fonctionnalités Avancées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Debug solveur en temps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3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A86FF"/>
                </a:solidFill>
              </a:rPr>
              <a:t>    • GET /api/missions/{id}/solver-debug → snapshot du contexte solveur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7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Décision de boost automatique selon nombre d'incidents, taille mission, météo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50591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Gestion des incidents en cours de 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API de replanification POST /api/missions/{id}/replan-incident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Matrice de coût live recalculée avec les rues bloquées (core_data/live_time_matrix_incident.npy)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2102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Cache LRU sur les routes candidates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325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Évite de recalculer les itinéraires déjà demandés → accélération mesurée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7141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Système de leaderboard (Panthéon)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82896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    • Scores persistants SQLite, classement mondial par ville et profil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39C12"/>
                </a:solidFill>
              </a:rPr>
              <a:t>Bilan et ouvertures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Ce que nous avons accompli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Graphes &amp; Open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3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Graphe orienté pondéré réel (OSMnx) avec analyse complète de centralité et robustesse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7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Données météo live (Open-Meteo), adresses géocodées, matrices de coût NumPy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50591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Algorithmique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Dijkstra + A* + A* bidirectionnel pour le cheminement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VRPTW via OR-Tools avec GLS, SA, Tabu, ALNS, 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0215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K-Means spatial custom (NumPy) pour la sectorisation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4106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Résultats concrets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5254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    • -36.7% de temps de trajet, -36.1% de distance vs approche gloutonne humaine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7258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    • Reproductibilité 100% (taux 1.0) sur toutes les politiques testées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Perspectives &amp; Ouvertures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43000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Open Data enrichie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3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Intégration des flux GTFS Île-de-France Mobilités → graphe multimodal (véhicule + métro)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79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Données de trafic temps réel (HERE, TomTom) pour pondérer les arêtes dynamiquement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50591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Centralité avancée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Eigenvector Centrality : identifier les nœuds bien connectés à d'autres nœuds importants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PageRank sur le graphe routier → prioriser les axes de transit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2102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▸  IA &amp; Apprentissage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325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Renforcer le modèle avec un plan d'expérience complet (12-20 instances seedées)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5254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    • Approche Reinforcement Learning pour remplacer l'heuristique gloutonne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40280"/>
            <a:ext cx="12188952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12188952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Merci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39C12"/>
                </a:solidFill>
              </a:rPr>
              <a:t>Des questions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CF0F1"/>
                </a:solidFill>
              </a:rPr>
              <a:t>Operation Noël  •  VRPTW + Open Data + Théorie des Graphes  • 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