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88952" cy="3474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🎄  Operation Noël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39C12"/>
                </a:solidFill>
              </a:rPr>
              <a:t>Optimisation des Tournées de Livraison du Père Noël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VRPTW  •  Graphes Réels (OSMnx)  •  OR-Tools  •  Open Data  •  IA Décisionnelle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F0F1"/>
                </a:solidFill>
              </a:rPr>
              <a:t>Graphes &amp; Open Data  —  Matière Recherche Opérationnelle  •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1. Contexte &amp; Problématique — VRPTW, enjeux logistiques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2. Open Data — OSMnx, Open-Meteo, SRTM ADEME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7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3. Modélisation du Graphe — nœuds, arêtes, poids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871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4. Analyse du Graphe — centralité, robustesse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443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5. Algorithmes — Dijkstra, A*, matrices de coût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01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6. Solveur OR-Tools — phases, profils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58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7. Post-traitement — ALNS, ILS, 2-opt, 3-opt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159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8. Incidents &amp; Replanification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731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9. Résultats &amp; Benchmark — IA vs Humain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303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10. Architecture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Pourquoi optimiser les livraisons du Père Noël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Le Défi Logistique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Chaque 24 décembre : livraisons massives en temps limité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Contraintes réelles du VRPTW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Fenêtres de temps : chaque maison a un créneau [earliest, latest]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Capacité : chaque traîneau porte un poids max de colis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Météo réelle : neige → vitesse ×0.5, pluie → ×0.77 (Open-Meteo)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Incidents : rues bloquées → replanification à chaud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46703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▸  Complexité : NP-difficile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20 clients → 20! ≈ 2.4 × 10¹⁸ combinaisons à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  • Résolution exacte impossible → métaheuristiques + OR-Tools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▸  Notre approche : données OSM réelles + Dijkstra + VRPTW + IA apprenante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Open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Des données ouvertes qui rendent le problème réaliste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Sources Open Data Utilisées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OpenStreetMap via OSMnx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Graphe routier réel — Paris 5ème : 124 nœuds, 210 arêtes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Chaque nœud = intersection ; arête = rue avec longueur + vitesse légale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Stocké localement : core_data/paris5.graphml (format XML standard)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Open-Meteo API (gratuite, sans clé)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Météo en temps réel : température, vent, code météo WMO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Facteur vitesse dynamique : ☀ ×1.0  •  🌧 ×0.77  •  ❄ ×0.5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ADEME Impact CO₂ (facteurs officiels français)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5020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120 g CO₂/km pour traîneau motorisé (fallback officiel ADEME)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6110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co2_matrix.npy : matrice précalculée entre tous les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OpenTopoData SRTM (relief du terrain)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2920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Altitude → pente → ajustement du temps et de la consommation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Pipeline Open Data : De l'Adresse au 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① Requête OSMnx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    • ox.graph_from_place("Paris 5e Arrondissement, France", network_type="drive")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65376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② Enrichissement des arêtes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Ajout vitesse légale + facteur météo + pente SRTM → poids final = temps en secondes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15184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③ Calcul des matrices (all-pairs Dijkstra)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6265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4 matrices N×N stockées en .npy : temps / distance / CO₂ / risque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64991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④ Matrice composite multicritère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1246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Cost = 0.55·t + 0.20·d + 0.15·CO₂ + 0.10·risque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▸  ⑤ Reproductibilité : SHA-256 des matrices → vérification make repro-check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Modélisation du Graphe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Un graphe orienté pondéré sur données réelles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Modèle de Graphe Routier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Type : Graphe orienté pondéré MultiGraph (OSMnx → NetworkX)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Orienté : sens unique représenté par arête directionnelle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Pondéré : poids = temps de trajet (secondes) ou distance (mètres)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MultiGraph : plusieurs voies parallèles entre deux nœuds possibles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06624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▸  Caractéristiques — Paris 5ème (core_data/paris5.graphml)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7238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39C12"/>
                </a:solidFill>
              </a:rPr>
              <a:t>    • Nœuds : 124  •  Arêtes : 210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0156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Chemin moyen (avg shortest path) : 13.49 sauts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3075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Diamètre : 35  •  Densité : 0.014  •  Clustering moyen : 0.069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Vitesses attribuées par type de voie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5371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residential → 30 km/h  •  tertiary → 50  •  secondary →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8289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bike → 18 km/h  •  walk → 5 km/h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Analyse du Graphe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Centralité, robustesse et points critiques du réseau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Centralité d'Intermédiarité (Betweenness)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BC(v) = fraction des plus courts chemins entre toute paire (s,t) passant par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Nœud BC élevé = goulot d'étranglement : sa suppression fragmente le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7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Top 5 — Paris 5ème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39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  • #1  Pont Marie                BC = 0.484  →  48% des tournées empruntent ce pont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0662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#2  Rue Pont Louis-Philippe   BC = 0.417  →  axe Nord-Sud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#3  Rue Saint-Paul            BC = 0.405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6499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#4  Quai de l'Hôtel de Ville  BC = 0.404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5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#5  Quai de l'Hôtel de Ville  BC = 0.398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9663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▸  Usage : si incident sur Pont Marie → 48% des tournées doivent être reroutées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Robustesse du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Test : suppression progressive de nœuds → mesure de la composante connexe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Attaque ciblée (nœuds à plus fort BC en premier)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  • Suppression de 1 nœud  →  perte de 60.5% de la connexité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Suppression de 5 nœuds →  perte de 66.9%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Suppression de 10 nœuds → perte de 72.6%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3580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Attaque aléatoire (nœuds quelconques)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79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Suppression de 5 nœuds →  perte de seulement 13.7%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79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▸  Ratio ciblé / aléatoire : ×4.9 — réseau très vulnérable aux attaques ciblées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79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86FF"/>
                </a:solidFill>
              </a:rPr>
              <a:t>▸  Conséquence : incident sur le Pont Marie → replanification immédiate de ~48% des routes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Algorithmes de Cheminement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Dijkstra, A* et construction des matrices de coût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Dijkstra vs A* — Comparaison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51560"/>
            <a:ext cx="45720" cy="5669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Dijkstra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636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Exploration uniforme (file de priorité)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8424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Garantit le chemin optimal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048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Explore TOUS les nœuds accessibles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2549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Usage : calcul all-pairs → matrices N×N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667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A* (A-étoile)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873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Heuristique : distance Haversine (vol d'oiseau)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079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Guide vers la destination → moins de nœuds explorés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2861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Optimal si h(n) ≤ distance_réelle (admissible)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492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Usage : navigation temps réel (un chemin)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7698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9048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A* Bidirectionnel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61111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Deux fronts simultanés : Source→Dest et Dest→Source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703173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Convergence quand les fronts se rejoignent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74523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-43% de nœuds explorés vs Dijkstra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430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Résultats sur Paris 5ème (124 nœuds)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56362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Dijkstra :   124 nœuds explorés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98424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A*        :   ~80 nœuds  (−35%)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0487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A* bidi   :   ~70 nœuds  (−43%)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82549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Matrices de coût calculées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66674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live_time_matrix.npy   — Temps 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08736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matrix_5eme.npy        — Distance (m)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5079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co2_matrix.npy         — Émissions CO₂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286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risk_matrix.npy        — Risque incident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492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9C12"/>
                </a:solidFill>
              </a:rPr>
              <a:t>  composite_cost_matrix  — Score multicritère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76986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619048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▸  case [i, j] = coût Dijkstra du dépôt/client i → client 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61111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703173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▸  Coût composite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74523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  0.55×temps + 0.20×dist + 0.15×CO₂ + 0.10×risque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Solveur OR-Tools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Résolution VRPTW avec Google OR-Tools + profils 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Formulation VRPTW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Vehicle Routing Problem with Time Windows (VRPTW)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Entrées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366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Matrice de coût N×N (composite), dépôt unique (nœud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K traîneaux avec capacité max en kg chacun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Fenêtres [earliest_i, latest_i] par client + durée de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Pénalité drop_penalty par client non 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3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Phases de résolution OR-Tools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8444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① Solution initiale : PATH_CHEAPEST_ARC (glouton rapide, quelques 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9534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② Amélioration : GUIDED_LOCAL_SEARCH (pénalise les arêtes fréquentes)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9C12"/>
                </a:solidFill>
              </a:rPr>
              <a:t>    • ③ Post-traitement : ALNS + ILS + 2-opt + 3-opt + or-opt + double-bridge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Profils IA — Politiques du Solveur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Les profils IA = politiques de paramétrage d'OR-Tools selon 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86FF"/>
                </a:solidFill>
              </a:rPr>
              <a:t>▸ 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PATH_CHEAPEST_ARC + GUIDED_LOCAL_SEARCH, limit 1s → vitesse maximale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0428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▸  Écolo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3347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SAVINGS + SIMULATED_ANNEALING → regroupe les trajets, minimise CO₂ et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3580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▸  Prudent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6499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Plus grande marge temporelle (time_slack), évite les zones à risque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6732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Championne (IA apprenante)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Profil appris sur historiques de missions : recommande les meilleurs paramètres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9884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▸  Sélection automatique du nombre de traîneaux K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2803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    • k_min = ceil(poids_total / capacité)  •  score = coût_opérationnel + drop_penalty × non_livrés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Post-traitement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ALNS, ILS et amélioration locale de la solution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Amélioration Post-Solve (ALNS + ILS)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OR-Tools donne une bonne solution initiale → le post-traitement l'affine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ALNS — Adaptive Large Neighborhood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Destroy : retirer aléatoirement M clients (Random / Worst-Cost / Relatedness)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Repair : réinsérer avec heuristique d'insertion au plus bas coût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2374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Adaptif : les opérateurs efficaces sont récompensés (poids probabiliste)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80944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ILS — Iterated Local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Perturbation double-bridge (échange de segments entre deux tournées)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2102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Redémarre depuis la meilleure solution connue pour sortir des optima locaux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78223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Micro-optimisations intra-route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0740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2-opt : échange de deux arêtes dans une même tournée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1830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3-opt : échange de trois segments  •  or-opt : déplace un client isolé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29199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2-opt* : échange inter-tournées (améliore la répartition entre traîneaux)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Incidents &amp; Replanification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Reroutage dynamique en cours de 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Gestion des Incidents en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Un incident = rue bloquée, accident ou travaux signalés en cours de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Pipeline de replanification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① Signalement via POST /api/missions/{id}/replan-incident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② Recalcul de la matrice de coût live avec les arêtes bloquées supprimées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③ Nouveau passage du solveur OR-Tools sur les clients restants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④ Renvoi de la nouvelle tournée au frontend (carte Leaflet mise à jour)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10127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▸  Impact Pont Marie (BC = 0.484)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599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  • ~48% des tournées doivent être recalculées si ce nœud est bloqué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6849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Cache LRU sur les itinéraires → accélération du recalcul (-60% temps moyen)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25696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▸  Large scale (≥150 colis) : Génération de tournées candidates + sélection CP-SAT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Résultats &amp;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IA vs approche humaine sur 5 missions réelles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Résultats : IA vs Humain (5 missions, 20 clients)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795778" cy="347472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795778" cy="822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7957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39C12"/>
                </a:solidFill>
              </a:rPr>
              <a:t>−36.7%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Réduction du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27957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1 972 s → 1 249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8698" y="1234440"/>
            <a:ext cx="2795778" cy="347472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8698" y="1234440"/>
            <a:ext cx="2795778" cy="8229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8698" y="1828800"/>
            <a:ext cx="27957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CC71"/>
                </a:solidFill>
              </a:rPr>
              <a:t>−36.1%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8698" y="315468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Réduction de la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698" y="3749039"/>
            <a:ext cx="27957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10.86 km → 6.94 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1234440"/>
            <a:ext cx="2795778" cy="347472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234440"/>
            <a:ext cx="2795778" cy="822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5916" y="1828800"/>
            <a:ext cx="27957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A86FF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315468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Taux de reproductibilité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3749039"/>
            <a:ext cx="27957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SHA-256 identique × 2 passes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3134" y="1234440"/>
            <a:ext cx="2795778" cy="347472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3134" y="1234440"/>
            <a:ext cx="2795778" cy="822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3134" y="1828800"/>
            <a:ext cx="27957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392B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3134" y="3154680"/>
            <a:ext cx="27957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Profils testés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3134" y="3749039"/>
            <a:ext cx="27957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Express / Écolo / Prudent…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Score Final Multicritère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Le score n'est pas seulement le temps : c'est un score pondéré multicritère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Formule du score composite (poids issus du code)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86FF"/>
                </a:solidFill>
              </a:rPr>
              <a:t>    • Score = 0.55 × temps_normalisé  +  0.20 × distance_normalisée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86FF"/>
                </a:solidFill>
              </a:rPr>
              <a:t>    •            +  0.15 × CO₂_normalisé  +  0.10 × risque_normalisé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06624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Benchmark : Tournée naïve vs IA optimisée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Temps : IA gagne 44 minutes sur 5 missions (−36.7%)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6499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Distance : 3.92 km de moins par session (−36.1%)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CO₂ : proportionnel à la distance → −36% d'émissions estimées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5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▸  Reproductibilité : taux 1.0 — même mission + même seed → résultat identique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607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Stack technique et bilan du projet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51560"/>
            <a:ext cx="45720" cy="5669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Backend — FastAPI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636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OR-Tools : solveur VRPTW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8424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OSMnx + NetworkX : graphe routier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048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Open-Meteo : météo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2549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SQLite : leaderboard persistant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API REST +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667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873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Frontend — Next.js 14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079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Leaflet.js : carte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2861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Visualisation des tournées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492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Versus Humain vs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7698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Replay animé + debriefing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430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Fonctionnalités clés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6362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Joueur : l'humain choisit ses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IA : OR-Tools résout seul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0487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Versus : comparaison temps réel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2549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Auto-suggestion : IA conseille le joueur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4612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Incidents : reroutage automatique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6674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8736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DevOps &amp; Qualité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079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Docker Compose (make docker)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286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pytest : 15+ tests automatisés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make repro-check : SHA-256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76986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Déterminisme garanti (seed explicite)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Ce Que Nous Avons Accompli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Graphes &amp; Open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Graphe réel OSMnx (124 nœuds, 210 arêtes) + analyse centralité + robustesse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3794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Météo live (Open-Meteo) + relief SRTM + CO₂ ADEME + adresses géocodées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Algorithmique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Dijkstra + A* + A* bidirectionnel → matrices de coût N×N multicritères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VRPTW via OR-Tools + GLS + SA + Tabu + ALNS + ILS + 2-opt + 3-opt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K-Means spatial custom (NumPy) pour la sectorisation large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Résultats mesurés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−36.7% de temps  •  −36.1% de distance vs approche humaine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7141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  • Reproductibilité 100%  •  déterminisme garanti sur toutes les politiques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731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Limites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▸  Limites actuelles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Simulation : les fenêtres de temps et incidents sont générés, pas saisis en vrai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Optimalité globale non garantie (NP-difficile → approximations)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OSMnx lent sur grands périmètres (&gt;500m de rayon)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1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IA apprenante pas encore assez entraînée pour battre les profils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07791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7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Données GTFS Île-de-France → graphe multimodal (véhicule + métro)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21023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Trafic temps réel (HERE / TomTom) pour pondérer les arêtes dynamiquement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Renforcement Learning pour remplacer l'heuristique gloutonne initiale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42816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PageRank + Eigenvector Centrality sur le graphe routier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Merci  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9C12"/>
                </a:solidFill>
              </a:rPr>
              <a:t>Des 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F0F1"/>
                </a:solidFill>
              </a:rPr>
              <a:t>Operation Noël  •  VRPTW + Graphes Réels + OR-Tools + Open Data  •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